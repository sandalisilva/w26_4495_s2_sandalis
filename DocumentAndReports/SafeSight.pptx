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1049-576F-EC56-1FEB-7E5CC2076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B860A-7C5D-1E31-C82A-F01606E58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C416D-E3CD-317D-9F1C-5FEB01D2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36B4C-FB11-BBC2-7E05-D260F8EE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129E3-5FA8-E969-1040-F3BB4B00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833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C9D3-468D-597F-79F3-151B431A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6B146-70AE-F556-7061-59DB5F67D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40940-3AC9-702B-60C8-325C2C0D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D7FA1-B051-4F5D-8747-19B9C38D9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15AF4-5C25-F1A7-0221-CA51F206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539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65DE-A2FF-3E0D-5ADC-DB435CDE4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D85CB-CA60-4B9B-C3BD-02849C159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BB19A-FEF2-706B-65EB-EDF1B207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F2823-03C7-7750-5934-DF03A8E4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F4EB1-F0EF-FB9F-C772-BB52B169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637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64B4-5808-266C-B6D0-520D9D86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36ACF-82EF-7AE6-E41A-77BCCDD07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5375C-0F0C-F913-FC84-96C9CD1BD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58AF2-2FC1-525B-415E-0475081AE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2D8BE-88EA-E757-04E1-CA8764D9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3A082-62EC-BEA2-F49B-700777BD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18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5D15-9961-EAEF-A484-75415A3E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02CCA-9B1B-A83B-395F-11EBBA0FA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9CFAE-7888-B83D-B97C-E295EC196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FC9E5-F5D8-74C0-7725-B9A5D482A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8B118C-311E-06ED-724A-5E90B3816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387308-C062-AFF4-3696-2E78FC34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82458B-A272-17CF-F4C9-F6FD1CFEA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B138DD-CD0A-A68E-9917-D868E794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2831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39AA-0E0C-74E5-A7C3-73F4531D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0E401-6E5E-D9D6-391A-A842860EF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979DC-2854-27D1-96BE-79F6BD01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40E747-48EB-DE93-898B-26194F4C8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8936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69294-7E99-19F5-658D-199E0B87A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C03204-7BC6-07EB-EB84-6F50EA5A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64983-452F-2BCB-BFA0-9A735243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146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8634-C1BF-D757-2049-7734D7E24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D451B-6E66-0FA4-026F-83A4B47EE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DB1DD-66BB-961F-863F-753B85B3D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FB109-3E0E-4707-EFB4-8AFA7F54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D3EA7-1C15-310D-1BF5-EE78BDF2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1B08A-0572-018F-A94B-856CCCF2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718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600C8-7E91-0046-5542-52C28ED23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9E1E21-6227-E1E8-17D9-B60B2B5EC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C590D-0325-4C9F-1904-3AAF42B67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DCFB5-0A5F-4818-41F6-A7695C651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D7B3F-161C-720B-D930-27BF80833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2194B-2C6B-3B7D-4748-32306EF7E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8342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FCF7-CFDA-3798-92A4-BD11CFAD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31804-17EF-2A6B-B904-67DA4EA36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72DA5-5BC8-A993-1EEB-C37EB0909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14AE4-F1F1-C2E6-B595-D13D7C757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6159C-F8F2-043A-BBA8-583EFC51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024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4E16E-0FF0-86B3-494C-12329155F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96844-3A53-68B9-6ACF-81194662E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07C56-7473-8A51-3C87-E5AA9E683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357CB-D4D8-E0C5-041A-3D080D00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BEFC7-AEB2-106A-E52D-87605DAD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885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8E5ED-3364-CB36-EDBD-4EF8F136A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2C3DE-25A7-91FA-FC5C-272D65A3F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E787B-072C-349B-5741-27CC1AC4B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9D5B9-89CA-45F3-87FC-EE903B1C3B14}" type="datetimeFigureOut">
              <a:rPr lang="en-CA" smtClean="0"/>
              <a:t>2026-02-22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34903-5770-10E3-EA51-A1FF63CDB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7C623-D3AD-8811-3F2D-54B627EC7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62D6B-3880-49F2-9571-937675729C0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58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DBE20-4265-4B96-715D-D0AC0D501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CA"/>
              <a:t>SafeSight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CAB3D-050B-76B1-6592-B2A8F49B8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en-CA" b="1"/>
              <a:t>A Full-Stack Predictive Workplace Safety Management System with reference to </a:t>
            </a:r>
            <a:endParaRPr lang="en-CA"/>
          </a:p>
          <a:p>
            <a:r>
              <a:rPr lang="en-CA" b="1"/>
              <a:t>Fairmont Waterfront</a:t>
            </a:r>
            <a:endParaRPr lang="en-CA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9BC9CC-9E1A-57E3-66F7-E28B0F325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722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7290B-19E7-A917-8763-FD31C612C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CA" sz="4800"/>
              <a:t>Overview: SafeSight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A0BB8-DEF3-F0B0-5C2E-5EDE186B0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400" dirty="0" err="1"/>
              <a:t>SafeSight</a:t>
            </a:r>
            <a:r>
              <a:rPr lang="en-US" sz="2400" dirty="0"/>
              <a:t> Intelligence is a proactive, full-stack safety management platform designed to transform traditional, reactive safety practices into a predictive, data-driven system. Developed as an independent project, it leverages modern web technologies to analyze workplace incident data, identify high-risk areas, and forecast recurring risks—empowering managers to take preventive action before accidents occur.</a:t>
            </a:r>
          </a:p>
          <a:p>
            <a:endParaRPr lang="en-CA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211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6EA410-24E8-941B-6563-DB97BE15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3931"/>
            <a:ext cx="3143250" cy="2601119"/>
          </a:xfrm>
        </p:spPr>
        <p:txBody>
          <a:bodyPr anchor="t">
            <a:normAutofit/>
          </a:bodyPr>
          <a:lstStyle/>
          <a:p>
            <a:pPr algn="ctr"/>
            <a:r>
              <a:rPr lang="en-CA" sz="4000"/>
              <a:t>Problem &amp; Research Foundation</a:t>
            </a:r>
          </a:p>
        </p:txBody>
      </p:sp>
      <p:pic>
        <p:nvPicPr>
          <p:cNvPr id="7" name="Graphic 6" descr="Document">
            <a:extLst>
              <a:ext uri="{FF2B5EF4-FFF2-40B4-BE49-F238E27FC236}">
                <a16:creationId xmlns:a16="http://schemas.microsoft.com/office/drawing/2014/main" id="{0D275755-8876-05F9-1F7C-C39419B09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2429670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A1EC4-7D0C-1C4C-7E9F-D10CE1E69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652" y="730249"/>
            <a:ext cx="7153147" cy="538480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300" b="1"/>
              <a:t>The Core Problem</a:t>
            </a:r>
            <a:endParaRPr lang="en-US" sz="1300"/>
          </a:p>
          <a:p>
            <a:r>
              <a:rPr lang="en-US" sz="1300"/>
              <a:t>Fragmented, paper-based reporting systems (e.g., Form 7)</a:t>
            </a:r>
          </a:p>
          <a:p>
            <a:r>
              <a:rPr lang="en-US" sz="1300"/>
              <a:t>Delayed insights and limited trend visibility</a:t>
            </a:r>
          </a:p>
          <a:p>
            <a:r>
              <a:rPr lang="en-US" sz="1300"/>
              <a:t>Safety management remains reactive rather than proactive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 b="1"/>
              <a:t>Critical Risk Identification</a:t>
            </a:r>
            <a:endParaRPr lang="en-US" sz="1300"/>
          </a:p>
          <a:p>
            <a:r>
              <a:rPr lang="en-US" sz="1300"/>
              <a:t>380 high-risk factors identified across departments</a:t>
            </a:r>
          </a:p>
          <a:p>
            <a:r>
              <a:rPr lang="en-US" sz="1300"/>
              <a:t>Concentrated exposure within Maintenance and Housekeeping operations</a:t>
            </a:r>
          </a:p>
          <a:p>
            <a:r>
              <a:rPr lang="en-US" sz="1300"/>
              <a:t>Pattern recognition reveals recurring environmental and procedural hazards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 b="1"/>
              <a:t>Key Predictive Metric</a:t>
            </a:r>
            <a:endParaRPr lang="en-US" sz="1300"/>
          </a:p>
          <a:p>
            <a:r>
              <a:rPr lang="en-US" sz="1300"/>
              <a:t>97.1% probability of incident recurrence without real-time intervention</a:t>
            </a:r>
          </a:p>
          <a:p>
            <a:r>
              <a:rPr lang="en-US" sz="1300"/>
              <a:t>Demonstrates urgent need for predictive analytics and centralized safety intelligence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buNone/>
            </a:pPr>
            <a:r>
              <a:rPr lang="en-US" sz="1300" b="1"/>
              <a:t>Implication</a:t>
            </a:r>
            <a:endParaRPr lang="en-US" sz="1300"/>
          </a:p>
          <a:p>
            <a:r>
              <a:rPr lang="en-US" sz="1300"/>
              <a:t>Data confirms a significant safety intelligence gap in hospitality</a:t>
            </a:r>
          </a:p>
          <a:p>
            <a:r>
              <a:rPr lang="en-US" sz="1300"/>
              <a:t>Establishes the necessity for a proactive, technology-driven safety platform</a:t>
            </a:r>
          </a:p>
          <a:p>
            <a:endParaRPr lang="en-CA" sz="1300"/>
          </a:p>
        </p:txBody>
      </p:sp>
    </p:spTree>
    <p:extLst>
      <p:ext uri="{BB962C8B-B14F-4D97-AF65-F5344CB8AC3E}">
        <p14:creationId xmlns:p14="http://schemas.microsoft.com/office/powerpoint/2010/main" val="2852609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F4B09-DAAD-32BA-492D-D81D2936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Full-Stack Architecture (Technical Deep-Dive)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F233D1-8A43-CFE4-D492-F5AC4E654F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944343"/>
              </p:ext>
            </p:extLst>
          </p:nvPr>
        </p:nvGraphicFramePr>
        <p:xfrm>
          <a:off x="838200" y="1907677"/>
          <a:ext cx="10512548" cy="4325802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2089675">
                  <a:extLst>
                    <a:ext uri="{9D8B030D-6E8A-4147-A177-3AD203B41FA5}">
                      <a16:colId xmlns:a16="http://schemas.microsoft.com/office/drawing/2014/main" val="2700327597"/>
                    </a:ext>
                  </a:extLst>
                </a:gridCol>
                <a:gridCol w="2261294">
                  <a:extLst>
                    <a:ext uri="{9D8B030D-6E8A-4147-A177-3AD203B41FA5}">
                      <a16:colId xmlns:a16="http://schemas.microsoft.com/office/drawing/2014/main" val="3319181407"/>
                    </a:ext>
                  </a:extLst>
                </a:gridCol>
                <a:gridCol w="3024540">
                  <a:extLst>
                    <a:ext uri="{9D8B030D-6E8A-4147-A177-3AD203B41FA5}">
                      <a16:colId xmlns:a16="http://schemas.microsoft.com/office/drawing/2014/main" val="1892698975"/>
                    </a:ext>
                  </a:extLst>
                </a:gridCol>
                <a:gridCol w="3137039">
                  <a:extLst>
                    <a:ext uri="{9D8B030D-6E8A-4147-A177-3AD203B41FA5}">
                      <a16:colId xmlns:a16="http://schemas.microsoft.com/office/drawing/2014/main" val="1372024299"/>
                    </a:ext>
                  </a:extLst>
                </a:gridCol>
              </a:tblGrid>
              <a:tr h="51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cap="none" spc="0">
                          <a:solidFill>
                            <a:schemeClr val="tx1"/>
                          </a:solidFill>
                        </a:rPr>
                        <a:t>Layer</a:t>
                      </a:r>
                    </a:p>
                  </a:txBody>
                  <a:tcPr marL="140823" marR="105202" marT="108326" marB="10832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cap="none" spc="0">
                          <a:solidFill>
                            <a:schemeClr val="tx1"/>
                          </a:solidFill>
                        </a:rPr>
                        <a:t>Technology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cap="none" spc="0">
                          <a:solidFill>
                            <a:schemeClr val="tx1"/>
                          </a:solidFill>
                        </a:rPr>
                        <a:t>Key Features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cap="none" spc="0">
                          <a:solidFill>
                            <a:schemeClr val="tx1"/>
                          </a:solidFill>
                        </a:rPr>
                        <a:t>Technical Highlights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492640"/>
                  </a:ext>
                </a:extLst>
              </a:tr>
              <a:tr h="1018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b="1" cap="none" spc="0">
                          <a:solidFill>
                            <a:schemeClr val="tx1"/>
                          </a:solidFill>
                        </a:rPr>
                        <a:t>Frontend</a:t>
                      </a:r>
                      <a:endParaRPr lang="en-CA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823" marR="105202" marT="108326" marB="10832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cap="none" spc="0">
                          <a:solidFill>
                            <a:schemeClr val="tx1"/>
                          </a:solidFill>
                        </a:rPr>
                        <a:t>React.js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Component-based UI architecture for high performance and scalability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Integrated Recharts library for dynamic data visualization (heatmaps and trend lines)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198993"/>
                  </a:ext>
                </a:extLst>
              </a:tr>
              <a:tr h="1271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b="1" cap="none" spc="0">
                          <a:solidFill>
                            <a:schemeClr val="tx1"/>
                          </a:solidFill>
                        </a:rPr>
                        <a:t>Backend</a:t>
                      </a:r>
                      <a:endParaRPr lang="en-CA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823" marR="105202" marT="108326" marB="10832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cap="none" spc="0">
                          <a:solidFill>
                            <a:schemeClr val="tx1"/>
                          </a:solidFill>
                        </a:rPr>
                        <a:t>Node.js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RESTful API architecture running on Port 5000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Implements CORS protocols to enable secure communication with the React frontend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23682"/>
                  </a:ext>
                </a:extLst>
              </a:tr>
              <a:tr h="1523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b="1" cap="none" spc="0">
                          <a:solidFill>
                            <a:schemeClr val="tx1"/>
                          </a:solidFill>
                        </a:rPr>
                        <a:t>Database</a:t>
                      </a:r>
                      <a:endParaRPr lang="en-CA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0823" marR="105202" marT="108326" marB="10832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700" cap="none" spc="0">
                          <a:solidFill>
                            <a:schemeClr val="tx1"/>
                          </a:solidFill>
                        </a:rPr>
                        <a:t>MySQL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Relational schema (</a:t>
                      </a:r>
                      <a:r>
                        <a:rPr lang="en-US" sz="17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safesight_db</a:t>
                      </a: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) optimized for data integrity and structured queries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Custom logic implemented to map frontend “PPE Checkbox” </a:t>
                      </a:r>
                      <a:r>
                        <a:rPr lang="en-US" sz="1700" cap="none" spc="0" err="1">
                          <a:solidFill>
                            <a:schemeClr val="tx1"/>
                          </a:solidFill>
                        </a:rPr>
                        <a:t>boolean</a:t>
                      </a: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 values to </a:t>
                      </a:r>
                      <a:r>
                        <a:rPr lang="en-US" sz="17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TINYINT(1)</a:t>
                      </a: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 fields in the database</a:t>
                      </a:r>
                    </a:p>
                  </a:txBody>
                  <a:tcPr marL="140823" marR="105202" marT="108326" marB="10832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247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7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8AAC95-3719-4BCD-B710-4160043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A6D7BA-50E4-42FE-A0E3-FC42B7EC4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2767722"/>
            <a:ext cx="3021543" cy="1532055"/>
          </a:xfrm>
          <a:custGeom>
            <a:avLst/>
            <a:gdLst>
              <a:gd name="connsiteX0" fmla="*/ 3021543 w 3021543"/>
              <a:gd name="connsiteY0" fmla="*/ 0 h 1532055"/>
              <a:gd name="connsiteX1" fmla="*/ 2963800 w 3021543"/>
              <a:gd name="connsiteY1" fmla="*/ 7730 h 1532055"/>
              <a:gd name="connsiteX2" fmla="*/ 2793803 w 3021543"/>
              <a:gd name="connsiteY2" fmla="*/ 25704 h 1532055"/>
              <a:gd name="connsiteX3" fmla="*/ 2414348 w 3021543"/>
              <a:gd name="connsiteY3" fmla="*/ 31695 h 1532055"/>
              <a:gd name="connsiteX4" fmla="*/ 2091558 w 3021543"/>
              <a:gd name="connsiteY4" fmla="*/ 29298 h 1532055"/>
              <a:gd name="connsiteX5" fmla="*/ 1645319 w 3021543"/>
              <a:gd name="connsiteY5" fmla="*/ 30497 h 1532055"/>
              <a:gd name="connsiteX6" fmla="*/ 1243602 w 3021543"/>
              <a:gd name="connsiteY6" fmla="*/ 64048 h 1532055"/>
              <a:gd name="connsiteX7" fmla="*/ 753851 w 3021543"/>
              <a:gd name="connsiteY7" fmla="*/ 61651 h 1532055"/>
              <a:gd name="connsiteX8" fmla="*/ 465465 w 3021543"/>
              <a:gd name="connsiteY8" fmla="*/ 123960 h 1532055"/>
              <a:gd name="connsiteX9" fmla="*/ 546416 w 3021543"/>
              <a:gd name="connsiteY9" fmla="*/ 145529 h 1532055"/>
              <a:gd name="connsiteX10" fmla="*/ 689091 w 3021543"/>
              <a:gd name="connsiteY10" fmla="*/ 192260 h 1532055"/>
              <a:gd name="connsiteX11" fmla="*/ 704269 w 3021543"/>
              <a:gd name="connsiteY11" fmla="*/ 222217 h 1532055"/>
              <a:gd name="connsiteX12" fmla="*/ 683020 w 3021543"/>
              <a:gd name="connsiteY12" fmla="*/ 236595 h 1532055"/>
              <a:gd name="connsiteX13" fmla="*/ 621295 w 3021543"/>
              <a:gd name="connsiteY13" fmla="*/ 264155 h 1532055"/>
              <a:gd name="connsiteX14" fmla="*/ 848968 w 3021543"/>
              <a:gd name="connsiteY14" fmla="*/ 304896 h 1532055"/>
              <a:gd name="connsiteX15" fmla="*/ 768018 w 3021543"/>
              <a:gd name="connsiteY15" fmla="*/ 330059 h 1532055"/>
              <a:gd name="connsiteX16" fmla="*/ 684032 w 3021543"/>
              <a:gd name="connsiteY16" fmla="*/ 348032 h 1532055"/>
              <a:gd name="connsiteX17" fmla="*/ 592962 w 3021543"/>
              <a:gd name="connsiteY17" fmla="*/ 361213 h 1532055"/>
              <a:gd name="connsiteX18" fmla="*/ 509988 w 3021543"/>
              <a:gd name="connsiteY18" fmla="*/ 387575 h 1532055"/>
              <a:gd name="connsiteX19" fmla="*/ 726531 w 3021543"/>
              <a:gd name="connsiteY19" fmla="*/ 398359 h 1532055"/>
              <a:gd name="connsiteX20" fmla="*/ 614212 w 3021543"/>
              <a:gd name="connsiteY20" fmla="*/ 422324 h 1532055"/>
              <a:gd name="connsiteX21" fmla="*/ 522131 w 3021543"/>
              <a:gd name="connsiteY21" fmla="*/ 453478 h 1532055"/>
              <a:gd name="connsiteX22" fmla="*/ 457370 w 3021543"/>
              <a:gd name="connsiteY22" fmla="*/ 467857 h 1532055"/>
              <a:gd name="connsiteX23" fmla="*/ 388562 w 3021543"/>
              <a:gd name="connsiteY23" fmla="*/ 471452 h 1532055"/>
              <a:gd name="connsiteX24" fmla="*/ 372372 w 3021543"/>
              <a:gd name="connsiteY24" fmla="*/ 494218 h 1532055"/>
              <a:gd name="connsiteX25" fmla="*/ 393622 w 3021543"/>
              <a:gd name="connsiteY25" fmla="*/ 518184 h 1532055"/>
              <a:gd name="connsiteX26" fmla="*/ 426002 w 3021543"/>
              <a:gd name="connsiteY26" fmla="*/ 520580 h 1532055"/>
              <a:gd name="connsiteX27" fmla="*/ 619271 w 3021543"/>
              <a:gd name="connsiteY27" fmla="*/ 526571 h 1532055"/>
              <a:gd name="connsiteX28" fmla="*/ 0 w 3021543"/>
              <a:gd name="connsiteY28" fmla="*/ 579294 h 1532055"/>
              <a:gd name="connsiteX29" fmla="*/ 83986 w 3021543"/>
              <a:gd name="connsiteY29" fmla="*/ 611647 h 1532055"/>
              <a:gd name="connsiteX30" fmla="*/ 112319 w 3021543"/>
              <a:gd name="connsiteY30" fmla="*/ 700317 h 1532055"/>
              <a:gd name="connsiteX31" fmla="*/ 215531 w 3021543"/>
              <a:gd name="connsiteY31" fmla="*/ 750643 h 1532055"/>
              <a:gd name="connsiteX32" fmla="*/ 282315 w 3021543"/>
              <a:gd name="connsiteY32" fmla="*/ 768617 h 1532055"/>
              <a:gd name="connsiteX33" fmla="*/ 435109 w 3021543"/>
              <a:gd name="connsiteY33" fmla="*/ 794979 h 1532055"/>
              <a:gd name="connsiteX34" fmla="*/ 457370 w 3021543"/>
              <a:gd name="connsiteY34" fmla="*/ 838116 h 1532055"/>
              <a:gd name="connsiteX35" fmla="*/ 476596 w 3021543"/>
              <a:gd name="connsiteY35" fmla="*/ 886046 h 1532055"/>
              <a:gd name="connsiteX36" fmla="*/ 517071 w 3021543"/>
              <a:gd name="connsiteY36" fmla="*/ 917200 h 1532055"/>
              <a:gd name="connsiteX37" fmla="*/ 202377 w 3021543"/>
              <a:gd name="connsiteY37" fmla="*/ 912407 h 1532055"/>
              <a:gd name="connsiteX38" fmla="*/ 557546 w 3021543"/>
              <a:gd name="connsiteY38" fmla="*/ 1013060 h 1532055"/>
              <a:gd name="connsiteX39" fmla="*/ 526178 w 3021543"/>
              <a:gd name="connsiteY39" fmla="*/ 1052602 h 1532055"/>
              <a:gd name="connsiteX40" fmla="*/ 720459 w 3021543"/>
              <a:gd name="connsiteY40" fmla="*/ 1106523 h 1532055"/>
              <a:gd name="connsiteX41" fmla="*/ 616236 w 3021543"/>
              <a:gd name="connsiteY41" fmla="*/ 1112514 h 1532055"/>
              <a:gd name="connsiteX42" fmla="*/ 1222353 w 3021543"/>
              <a:gd name="connsiteY42" fmla="*/ 1337785 h 1532055"/>
              <a:gd name="connsiteX43" fmla="*/ 2087511 w 3021543"/>
              <a:gd name="connsiteY43" fmla="*/ 1500747 h 1532055"/>
              <a:gd name="connsiteX44" fmla="*/ 2425479 w 3021543"/>
              <a:gd name="connsiteY44" fmla="*/ 1531901 h 1532055"/>
              <a:gd name="connsiteX45" fmla="*/ 2809994 w 3021543"/>
              <a:gd name="connsiteY45" fmla="*/ 1522315 h 1532055"/>
              <a:gd name="connsiteX46" fmla="*/ 2953618 w 3021543"/>
              <a:gd name="connsiteY46" fmla="*/ 1512448 h 1532055"/>
              <a:gd name="connsiteX47" fmla="*/ 3021543 w 3021543"/>
              <a:gd name="connsiteY47" fmla="*/ 1502657 h 153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532055">
                <a:moveTo>
                  <a:pt x="3021543" y="0"/>
                </a:moveTo>
                <a:lnTo>
                  <a:pt x="2963800" y="7730"/>
                </a:lnTo>
                <a:cubicBezTo>
                  <a:pt x="2907134" y="14919"/>
                  <a:pt x="2850469" y="24506"/>
                  <a:pt x="2793803" y="25704"/>
                </a:cubicBezTo>
                <a:cubicBezTo>
                  <a:pt x="2667318" y="29298"/>
                  <a:pt x="2539821" y="20911"/>
                  <a:pt x="2414348" y="31695"/>
                </a:cubicBezTo>
                <a:cubicBezTo>
                  <a:pt x="2307089" y="41281"/>
                  <a:pt x="2198818" y="30497"/>
                  <a:pt x="2091558" y="29298"/>
                </a:cubicBezTo>
                <a:cubicBezTo>
                  <a:pt x="1942812" y="28100"/>
                  <a:pt x="1793053" y="19713"/>
                  <a:pt x="1645319" y="30497"/>
                </a:cubicBezTo>
                <a:cubicBezTo>
                  <a:pt x="1510738" y="38885"/>
                  <a:pt x="1376158" y="41281"/>
                  <a:pt x="1243602" y="64048"/>
                </a:cubicBezTo>
                <a:cubicBezTo>
                  <a:pt x="1079677" y="76030"/>
                  <a:pt x="916765" y="68841"/>
                  <a:pt x="753851" y="61651"/>
                </a:cubicBezTo>
                <a:cubicBezTo>
                  <a:pt x="653675" y="56858"/>
                  <a:pt x="554511" y="41281"/>
                  <a:pt x="465465" y="123960"/>
                </a:cubicBezTo>
                <a:cubicBezTo>
                  <a:pt x="489751" y="143132"/>
                  <a:pt x="519095" y="139537"/>
                  <a:pt x="546416" y="145529"/>
                </a:cubicBezTo>
                <a:cubicBezTo>
                  <a:pt x="594986" y="157511"/>
                  <a:pt x="643557" y="169493"/>
                  <a:pt x="689091" y="192260"/>
                </a:cubicBezTo>
                <a:cubicBezTo>
                  <a:pt x="699210" y="197053"/>
                  <a:pt x="708317" y="206639"/>
                  <a:pt x="704269" y="222217"/>
                </a:cubicBezTo>
                <a:cubicBezTo>
                  <a:pt x="701234" y="234199"/>
                  <a:pt x="691115" y="234199"/>
                  <a:pt x="683020" y="236595"/>
                </a:cubicBezTo>
                <a:cubicBezTo>
                  <a:pt x="664806" y="243785"/>
                  <a:pt x="642545" y="238992"/>
                  <a:pt x="621295" y="264155"/>
                </a:cubicBezTo>
                <a:cubicBezTo>
                  <a:pt x="702245" y="277336"/>
                  <a:pt x="780160" y="252172"/>
                  <a:pt x="848968" y="304896"/>
                </a:cubicBezTo>
                <a:cubicBezTo>
                  <a:pt x="823671" y="331257"/>
                  <a:pt x="795339" y="325266"/>
                  <a:pt x="768018" y="330059"/>
                </a:cubicBezTo>
                <a:cubicBezTo>
                  <a:pt x="739685" y="334852"/>
                  <a:pt x="712365" y="343240"/>
                  <a:pt x="684032" y="348032"/>
                </a:cubicBezTo>
                <a:cubicBezTo>
                  <a:pt x="653675" y="354023"/>
                  <a:pt x="623319" y="355222"/>
                  <a:pt x="592962" y="361213"/>
                </a:cubicBezTo>
                <a:cubicBezTo>
                  <a:pt x="567666" y="366006"/>
                  <a:pt x="540345" y="357618"/>
                  <a:pt x="509988" y="387575"/>
                </a:cubicBezTo>
                <a:cubicBezTo>
                  <a:pt x="584867" y="409143"/>
                  <a:pt x="652663" y="376790"/>
                  <a:pt x="726531" y="398359"/>
                </a:cubicBezTo>
                <a:cubicBezTo>
                  <a:pt x="683020" y="417531"/>
                  <a:pt x="647604" y="411539"/>
                  <a:pt x="614212" y="422324"/>
                </a:cubicBezTo>
                <a:cubicBezTo>
                  <a:pt x="583855" y="433108"/>
                  <a:pt x="547428" y="421126"/>
                  <a:pt x="522131" y="453478"/>
                </a:cubicBezTo>
                <a:cubicBezTo>
                  <a:pt x="502905" y="478641"/>
                  <a:pt x="482668" y="482236"/>
                  <a:pt x="457370" y="467857"/>
                </a:cubicBezTo>
                <a:cubicBezTo>
                  <a:pt x="435109" y="454676"/>
                  <a:pt x="410824" y="458271"/>
                  <a:pt x="388562" y="471452"/>
                </a:cubicBezTo>
                <a:cubicBezTo>
                  <a:pt x="380468" y="476245"/>
                  <a:pt x="372372" y="482236"/>
                  <a:pt x="372372" y="494218"/>
                </a:cubicBezTo>
                <a:cubicBezTo>
                  <a:pt x="372372" y="510994"/>
                  <a:pt x="382491" y="515787"/>
                  <a:pt x="393622" y="518184"/>
                </a:cubicBezTo>
                <a:cubicBezTo>
                  <a:pt x="403741" y="520580"/>
                  <a:pt x="415883" y="522977"/>
                  <a:pt x="426002" y="520580"/>
                </a:cubicBezTo>
                <a:cubicBezTo>
                  <a:pt x="490762" y="507399"/>
                  <a:pt x="554511" y="528968"/>
                  <a:pt x="619271" y="526571"/>
                </a:cubicBezTo>
                <a:cubicBezTo>
                  <a:pt x="415883" y="578096"/>
                  <a:pt x="210471" y="561321"/>
                  <a:pt x="0" y="579294"/>
                </a:cubicBezTo>
                <a:cubicBezTo>
                  <a:pt x="27321" y="615241"/>
                  <a:pt x="62737" y="585286"/>
                  <a:pt x="83986" y="611647"/>
                </a:cubicBezTo>
                <a:cubicBezTo>
                  <a:pt x="63748" y="666766"/>
                  <a:pt x="71844" y="696722"/>
                  <a:pt x="112319" y="700317"/>
                </a:cubicBezTo>
                <a:cubicBezTo>
                  <a:pt x="151782" y="703912"/>
                  <a:pt x="194281" y="684740"/>
                  <a:pt x="215531" y="750643"/>
                </a:cubicBezTo>
                <a:cubicBezTo>
                  <a:pt x="221602" y="771014"/>
                  <a:pt x="259042" y="765023"/>
                  <a:pt x="282315" y="768617"/>
                </a:cubicBezTo>
                <a:cubicBezTo>
                  <a:pt x="332909" y="777005"/>
                  <a:pt x="386539" y="768617"/>
                  <a:pt x="435109" y="794979"/>
                </a:cubicBezTo>
                <a:cubicBezTo>
                  <a:pt x="454335" y="804565"/>
                  <a:pt x="467489" y="811754"/>
                  <a:pt x="457370" y="838116"/>
                </a:cubicBezTo>
                <a:cubicBezTo>
                  <a:pt x="447252" y="865675"/>
                  <a:pt x="460406" y="875261"/>
                  <a:pt x="476596" y="886046"/>
                </a:cubicBezTo>
                <a:cubicBezTo>
                  <a:pt x="488739" y="894433"/>
                  <a:pt x="506953" y="892037"/>
                  <a:pt x="517071" y="917200"/>
                </a:cubicBezTo>
                <a:cubicBezTo>
                  <a:pt x="410824" y="913605"/>
                  <a:pt x="307612" y="893235"/>
                  <a:pt x="202377" y="912407"/>
                </a:cubicBezTo>
                <a:cubicBezTo>
                  <a:pt x="317731" y="960337"/>
                  <a:pt x="444216" y="957940"/>
                  <a:pt x="557546" y="1013060"/>
                </a:cubicBezTo>
                <a:cubicBezTo>
                  <a:pt x="553499" y="1032232"/>
                  <a:pt x="527190" y="1023844"/>
                  <a:pt x="526178" y="1052602"/>
                </a:cubicBezTo>
                <a:cubicBezTo>
                  <a:pt x="585879" y="1082558"/>
                  <a:pt x="657723" y="1062188"/>
                  <a:pt x="720459" y="1106523"/>
                </a:cubicBezTo>
                <a:cubicBezTo>
                  <a:pt x="684032" y="1126893"/>
                  <a:pt x="650640" y="1093342"/>
                  <a:pt x="616236" y="1112514"/>
                </a:cubicBezTo>
                <a:cubicBezTo>
                  <a:pt x="627367" y="1141273"/>
                  <a:pt x="1131283" y="1318613"/>
                  <a:pt x="1222353" y="1337785"/>
                </a:cubicBezTo>
                <a:cubicBezTo>
                  <a:pt x="1407527" y="1377327"/>
                  <a:pt x="1940788" y="1477980"/>
                  <a:pt x="2087511" y="1500747"/>
                </a:cubicBezTo>
                <a:cubicBezTo>
                  <a:pt x="2200841" y="1517522"/>
                  <a:pt x="2313160" y="1530703"/>
                  <a:pt x="2425479" y="1531901"/>
                </a:cubicBezTo>
                <a:cubicBezTo>
                  <a:pt x="2553988" y="1533099"/>
                  <a:pt x="2681485" y="1527108"/>
                  <a:pt x="2809994" y="1522315"/>
                </a:cubicBezTo>
                <a:cubicBezTo>
                  <a:pt x="2858058" y="1520518"/>
                  <a:pt x="2905933" y="1517372"/>
                  <a:pt x="2953618" y="1512448"/>
                </a:cubicBezTo>
                <a:lnTo>
                  <a:pt x="3021543" y="1502657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83F3C-0E06-1079-9EF1-44DEE1575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199"/>
            <a:ext cx="4191000" cy="5338763"/>
          </a:xfrm>
        </p:spPr>
        <p:txBody>
          <a:bodyPr>
            <a:normAutofit/>
          </a:bodyPr>
          <a:lstStyle/>
          <a:p>
            <a:r>
              <a:rPr lang="en-CA" dirty="0"/>
              <a:t>Implementation &amp; Analytics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FB0C0-E436-B3D5-DAFF-AA135665E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0" y="406401"/>
            <a:ext cx="6979920" cy="59131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100" b="1" dirty="0"/>
              <a:t>Real-Time Data Intake</a:t>
            </a:r>
            <a:endParaRPr lang="en-US" sz="1100" dirty="0"/>
          </a:p>
          <a:p>
            <a:r>
              <a:rPr lang="en-US" sz="1100" dirty="0"/>
              <a:t>Fully functional digital reporting form integrated into the dashboard</a:t>
            </a:r>
          </a:p>
          <a:p>
            <a:r>
              <a:rPr lang="en-US" sz="1100" dirty="0"/>
              <a:t>Instantly transmits incident data from the user interface to the MySQL database</a:t>
            </a:r>
          </a:p>
          <a:p>
            <a:r>
              <a:rPr lang="en-US" sz="1100" dirty="0"/>
              <a:t>Eliminates reporting delays and manual data entry errors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/>
              <a:t>Advanced Risk Modeling</a:t>
            </a:r>
            <a:endParaRPr lang="en-US" sz="1100" dirty="0"/>
          </a:p>
          <a:p>
            <a:r>
              <a:rPr lang="en-US" sz="1100" dirty="0"/>
              <a:t>Calculates a </a:t>
            </a:r>
            <a:r>
              <a:rPr lang="en-US" sz="1100" b="1" dirty="0"/>
              <a:t>97.1% probability</a:t>
            </a:r>
            <a:r>
              <a:rPr lang="en-US" sz="1100" dirty="0"/>
              <a:t> of a high-risk event within any 7-day window if no corrective action is taken</a:t>
            </a:r>
          </a:p>
          <a:p>
            <a:r>
              <a:rPr lang="en-US" sz="1100" dirty="0"/>
              <a:t>Categorizes incidents by </a:t>
            </a:r>
            <a:r>
              <a:rPr lang="en-US" sz="1100" b="1" dirty="0"/>
              <a:t>Shift, Department, and Injury Type</a:t>
            </a:r>
            <a:endParaRPr lang="en-US" sz="1100" dirty="0"/>
          </a:p>
          <a:p>
            <a:r>
              <a:rPr lang="en-US" sz="1100" dirty="0"/>
              <a:t>Identifies the precise </a:t>
            </a:r>
            <a:r>
              <a:rPr lang="en-US" sz="1100" b="1" dirty="0"/>
              <a:t>Who, Where, and When</a:t>
            </a:r>
            <a:r>
              <a:rPr lang="en-US" sz="1100" dirty="0"/>
              <a:t> of emerging safety risks</a:t>
            </a:r>
          </a:p>
          <a:p>
            <a:endParaRPr lang="en-US" sz="1100" dirty="0"/>
          </a:p>
          <a:p>
            <a:pPr marL="0" indent="0">
              <a:buNone/>
            </a:pPr>
            <a:r>
              <a:rPr lang="en-US" sz="1100" b="1" dirty="0"/>
              <a:t>Regulatory Alignment</a:t>
            </a:r>
            <a:endParaRPr lang="en-US" sz="1100" dirty="0"/>
          </a:p>
          <a:p>
            <a:r>
              <a:rPr lang="en-US" sz="1100" dirty="0"/>
              <a:t>Structured to streamline the transition from internal incident reporting to a formal </a:t>
            </a:r>
            <a:r>
              <a:rPr lang="en-US" sz="1100" b="1" dirty="0" err="1"/>
              <a:t>WorkSafeBC</a:t>
            </a:r>
            <a:r>
              <a:rPr lang="en-US" sz="1100" dirty="0"/>
              <a:t> Form 7 compliance document</a:t>
            </a:r>
          </a:p>
          <a:p>
            <a:r>
              <a:rPr lang="en-US" sz="1100" dirty="0"/>
              <a:t>Supports accurate documentation and regulatory readiness</a:t>
            </a:r>
          </a:p>
          <a:p>
            <a:endParaRPr lang="en-US" sz="1100" dirty="0"/>
          </a:p>
          <a:p>
            <a:pPr marL="0" indent="0">
              <a:buNone/>
            </a:pPr>
            <a:r>
              <a:rPr lang="en-US" sz="1100" b="1" dirty="0"/>
              <a:t>Management Impact</a:t>
            </a:r>
            <a:endParaRPr lang="en-US" sz="1100" dirty="0"/>
          </a:p>
          <a:p>
            <a:r>
              <a:rPr lang="en-US" sz="1100" dirty="0"/>
              <a:t>Transforms raw incident data into actionable insights</a:t>
            </a:r>
          </a:p>
          <a:p>
            <a:r>
              <a:rPr lang="en-US" sz="1100" dirty="0"/>
              <a:t>Enables proactive decision-making and early intervention</a:t>
            </a:r>
          </a:p>
          <a:p>
            <a:r>
              <a:rPr lang="en-US" sz="1100" dirty="0"/>
              <a:t>Strengthens accountability and compliance across departments</a:t>
            </a:r>
          </a:p>
        </p:txBody>
      </p:sp>
      <p:pic>
        <p:nvPicPr>
          <p:cNvPr id="4" name="Graphic 3" descr="Document">
            <a:extLst>
              <a:ext uri="{FF2B5EF4-FFF2-40B4-BE49-F238E27FC236}">
                <a16:creationId xmlns:a16="http://schemas.microsoft.com/office/drawing/2014/main" id="{91F31764-6C65-BC10-4958-AABD6C058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0904" y="1330960"/>
            <a:ext cx="1310640" cy="132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20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400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Office Theme</vt:lpstr>
      <vt:lpstr>SafeSight </vt:lpstr>
      <vt:lpstr>Overview: SafeSight Intelligence</vt:lpstr>
      <vt:lpstr>Problem &amp; Research Foundation</vt:lpstr>
      <vt:lpstr>Full-Stack Architecture (Technical Deep-Dive)</vt:lpstr>
      <vt:lpstr>Implementation &amp; Analytics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Silva, Sandali V.</dc:creator>
  <cp:lastModifiedBy>Silva, Sandali V.</cp:lastModifiedBy>
  <cp:revision>3</cp:revision>
  <dcterms:created xsi:type="dcterms:W3CDTF">2026-02-22T08:46:57Z</dcterms:created>
  <dcterms:modified xsi:type="dcterms:W3CDTF">2026-02-22T22:01:43Z</dcterms:modified>
</cp:coreProperties>
</file>