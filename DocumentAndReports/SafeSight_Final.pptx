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79" r:id="rId4"/>
    <p:sldId id="286" r:id="rId5"/>
    <p:sldId id="260" r:id="rId6"/>
    <p:sldId id="297" r:id="rId7"/>
    <p:sldId id="263" r:id="rId8"/>
    <p:sldId id="290" r:id="rId9"/>
    <p:sldId id="282" r:id="rId10"/>
    <p:sldId id="283" r:id="rId11"/>
    <p:sldId id="298" r:id="rId12"/>
    <p:sldId id="299" r:id="rId13"/>
    <p:sldId id="294" r:id="rId14"/>
    <p:sldId id="284" r:id="rId15"/>
    <p:sldId id="291" r:id="rId16"/>
    <p:sldId id="268" r:id="rId17"/>
    <p:sldId id="293" r:id="rId18"/>
    <p:sldId id="296" r:id="rId19"/>
    <p:sldId id="300" r:id="rId20"/>
    <p:sldId id="271" r:id="rId21"/>
    <p:sldId id="272" r:id="rId22"/>
    <p:sldId id="27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8A37"/>
    <a:srgbClr val="522E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D461DD-29A7-4DF1-A5F6-D361523AD98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1402D3E-B230-48F5-AF49-F5EE5BC4552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>
              <a:latin typeface="Georgia" panose="02040502050405020303" pitchFamily="18" charset="0"/>
            </a:rPr>
            <a:t>Data silos between staff, managers, and HR</a:t>
          </a:r>
          <a:endParaRPr lang="en-US" sz="2000" b="1" dirty="0">
            <a:solidFill>
              <a:schemeClr val="tx1"/>
            </a:solidFill>
            <a:latin typeface="Georgia" panose="02040502050405020303" pitchFamily="18" charset="0"/>
          </a:endParaRPr>
        </a:p>
      </dgm:t>
    </dgm:pt>
    <dgm:pt modelId="{D4C4878F-ACD2-4E81-928D-EC60D445C5E8}" type="parTrans" cxnId="{DDA981C6-FBC1-4A5E-9DD5-5DCA1AFED615}">
      <dgm:prSet/>
      <dgm:spPr/>
      <dgm:t>
        <a:bodyPr/>
        <a:lstStyle/>
        <a:p>
          <a:endParaRPr lang="en-US" sz="1600" b="1">
            <a:solidFill>
              <a:schemeClr val="tx1"/>
            </a:solidFill>
            <a:latin typeface="Georgia Pro Semibold" panose="02040702050405020303" pitchFamily="18" charset="0"/>
          </a:endParaRPr>
        </a:p>
      </dgm:t>
    </dgm:pt>
    <dgm:pt modelId="{07E7E9DA-731A-47DB-8BDF-7BE459ADD62C}" type="sibTrans" cxnId="{DDA981C6-FBC1-4A5E-9DD5-5DCA1AFED615}">
      <dgm:prSet/>
      <dgm:spPr/>
      <dgm:t>
        <a:bodyPr/>
        <a:lstStyle/>
        <a:p>
          <a:endParaRPr lang="en-US" sz="1600" b="1">
            <a:solidFill>
              <a:schemeClr val="tx1"/>
            </a:solidFill>
            <a:latin typeface="Georgia Pro Semibold" panose="02040702050405020303" pitchFamily="18" charset="0"/>
          </a:endParaRPr>
        </a:p>
      </dgm:t>
    </dgm:pt>
    <dgm:pt modelId="{89A9AFC6-1C6C-4AA0-B89E-2B435AAE8A8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CA" sz="2000" dirty="0">
              <a:latin typeface="Georgia" panose="02040502050405020303" pitchFamily="18" charset="0"/>
            </a:rPr>
            <a:t>Manual compliance processes → errors &amp; fatigue</a:t>
          </a:r>
          <a:r>
            <a:rPr lang="en-US" sz="2000" b="1" dirty="0">
              <a:solidFill>
                <a:schemeClr val="tx1"/>
              </a:solidFill>
              <a:latin typeface="Georgia" panose="02040502050405020303" pitchFamily="18" charset="0"/>
            </a:rPr>
            <a:t>.</a:t>
          </a:r>
        </a:p>
      </dgm:t>
    </dgm:pt>
    <dgm:pt modelId="{AF9AD54D-E0F7-493B-AD24-3DE48416D242}" type="parTrans" cxnId="{89E7BB96-5197-4B28-949E-07750E71307F}">
      <dgm:prSet/>
      <dgm:spPr/>
      <dgm:t>
        <a:bodyPr/>
        <a:lstStyle/>
        <a:p>
          <a:endParaRPr lang="en-US" sz="1600" b="1">
            <a:solidFill>
              <a:schemeClr val="tx1"/>
            </a:solidFill>
            <a:latin typeface="Georgia Pro Semibold" panose="02040702050405020303" pitchFamily="18" charset="0"/>
          </a:endParaRPr>
        </a:p>
      </dgm:t>
    </dgm:pt>
    <dgm:pt modelId="{B3E3C1CA-DB6D-402E-959D-0C9DFBF8261D}" type="sibTrans" cxnId="{89E7BB96-5197-4B28-949E-07750E71307F}">
      <dgm:prSet/>
      <dgm:spPr/>
      <dgm:t>
        <a:bodyPr/>
        <a:lstStyle/>
        <a:p>
          <a:endParaRPr lang="en-US" sz="1600" b="1">
            <a:solidFill>
              <a:schemeClr val="tx1"/>
            </a:solidFill>
            <a:latin typeface="Georgia Pro Semibold" panose="02040702050405020303" pitchFamily="18" charset="0"/>
          </a:endParaRPr>
        </a:p>
      </dgm:t>
    </dgm:pt>
    <dgm:pt modelId="{82536F02-05F3-438D-B850-B56642C713E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>
              <a:latin typeface="Georgia" panose="02040502050405020303" pitchFamily="18" charset="0"/>
            </a:rPr>
            <a:t>No predictive insight → repeated incidents</a:t>
          </a:r>
          <a:r>
            <a:rPr lang="en-US" sz="1600" b="1" dirty="0">
              <a:solidFill>
                <a:schemeClr val="tx1"/>
              </a:solidFill>
              <a:latin typeface="Georgia Pro Semibold" panose="02040702050405020303" pitchFamily="18" charset="0"/>
            </a:rPr>
            <a:t>.</a:t>
          </a:r>
        </a:p>
      </dgm:t>
    </dgm:pt>
    <dgm:pt modelId="{1679B751-BC19-41B5-95E0-3C6FDF07A7C5}" type="parTrans" cxnId="{B8025995-8C83-4482-A99F-EA6940A603D0}">
      <dgm:prSet/>
      <dgm:spPr/>
      <dgm:t>
        <a:bodyPr/>
        <a:lstStyle/>
        <a:p>
          <a:endParaRPr lang="en-US" sz="1600" b="1">
            <a:solidFill>
              <a:schemeClr val="tx1"/>
            </a:solidFill>
            <a:latin typeface="Georgia Pro Semibold" panose="02040702050405020303" pitchFamily="18" charset="0"/>
          </a:endParaRPr>
        </a:p>
      </dgm:t>
    </dgm:pt>
    <dgm:pt modelId="{B26AE5B4-5544-4348-B3F8-C8E4E9AF7229}" type="sibTrans" cxnId="{B8025995-8C83-4482-A99F-EA6940A603D0}">
      <dgm:prSet/>
      <dgm:spPr/>
      <dgm:t>
        <a:bodyPr/>
        <a:lstStyle/>
        <a:p>
          <a:endParaRPr lang="en-US" sz="1600" b="1">
            <a:solidFill>
              <a:schemeClr val="tx1"/>
            </a:solidFill>
            <a:latin typeface="Georgia Pro Semibold" panose="02040702050405020303" pitchFamily="18" charset="0"/>
          </a:endParaRPr>
        </a:p>
      </dgm:t>
    </dgm:pt>
    <dgm:pt modelId="{57EF6E56-0801-4231-92F6-CEB7857FCDFA}">
      <dgm:prSet custT="1"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sz="2000" dirty="0">
              <a:latin typeface="Georgia" panose="02040502050405020303" pitchFamily="18" charset="0"/>
            </a:rPr>
            <a:t>Safety management is </a:t>
          </a:r>
          <a:r>
            <a:rPr lang="en-US" sz="2000" b="1" dirty="0">
              <a:latin typeface="Georgia" panose="02040502050405020303" pitchFamily="18" charset="0"/>
            </a:rPr>
            <a:t>reactive, fragmented, and inefficient</a:t>
          </a:r>
          <a:endParaRPr lang="en-US" sz="2000" b="1" dirty="0">
            <a:solidFill>
              <a:srgbClr val="358A37"/>
            </a:solidFill>
            <a:latin typeface="Georgia" panose="02040502050405020303" pitchFamily="18" charset="0"/>
          </a:endParaRPr>
        </a:p>
      </dgm:t>
    </dgm:pt>
    <dgm:pt modelId="{EEA03BFD-32FC-4203-86C3-4927E8B681D4}" type="sibTrans" cxnId="{5107321D-1A38-4954-B5F1-70E5DDBAC0FD}">
      <dgm:prSet/>
      <dgm:spPr/>
      <dgm:t>
        <a:bodyPr/>
        <a:lstStyle/>
        <a:p>
          <a:endParaRPr lang="en-US" sz="1600" b="1">
            <a:solidFill>
              <a:schemeClr val="tx1"/>
            </a:solidFill>
            <a:latin typeface="Georgia Pro Semibold" panose="02040702050405020303" pitchFamily="18" charset="0"/>
          </a:endParaRPr>
        </a:p>
      </dgm:t>
    </dgm:pt>
    <dgm:pt modelId="{1819D32C-0197-4165-B8CA-CB97F2F1108F}" type="parTrans" cxnId="{5107321D-1A38-4954-B5F1-70E5DDBAC0FD}">
      <dgm:prSet/>
      <dgm:spPr/>
      <dgm:t>
        <a:bodyPr/>
        <a:lstStyle/>
        <a:p>
          <a:endParaRPr lang="en-US" sz="1600" b="1">
            <a:solidFill>
              <a:schemeClr val="tx1"/>
            </a:solidFill>
            <a:latin typeface="Georgia Pro Semibold" panose="02040702050405020303" pitchFamily="18" charset="0"/>
          </a:endParaRPr>
        </a:p>
      </dgm:t>
    </dgm:pt>
    <dgm:pt modelId="{BF4567D0-ECD2-4864-8229-FF5B19F46AED}">
      <dgm:prSet custT="1"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sz="2000" dirty="0">
              <a:latin typeface="Georgia" panose="02040502050405020303" pitchFamily="18" charset="0"/>
            </a:rPr>
            <a:t>Reporting delays → active hazards remain unresolved</a:t>
          </a:r>
          <a:endParaRPr lang="en-US" sz="2000" b="1" dirty="0">
            <a:solidFill>
              <a:schemeClr val="tx1"/>
            </a:solidFill>
            <a:latin typeface="Georgia" panose="02040502050405020303" pitchFamily="18" charset="0"/>
          </a:endParaRPr>
        </a:p>
      </dgm:t>
    </dgm:pt>
    <dgm:pt modelId="{CEB8E7CE-0DEB-4AE9-A218-C5EF4334162E}" type="parTrans" cxnId="{821CC478-D904-4BFC-B100-A1EAAE5715F3}">
      <dgm:prSet/>
      <dgm:spPr/>
      <dgm:t>
        <a:bodyPr/>
        <a:lstStyle/>
        <a:p>
          <a:endParaRPr lang="en-US" sz="1600" b="1">
            <a:solidFill>
              <a:schemeClr val="tx1"/>
            </a:solidFill>
            <a:latin typeface="Georgia Pro Semibold" panose="02040702050405020303" pitchFamily="18" charset="0"/>
          </a:endParaRPr>
        </a:p>
      </dgm:t>
    </dgm:pt>
    <dgm:pt modelId="{13E3E068-5FFE-421C-A5D5-7A7FBEA94C7E}" type="sibTrans" cxnId="{821CC478-D904-4BFC-B100-A1EAAE5715F3}">
      <dgm:prSet/>
      <dgm:spPr/>
      <dgm:t>
        <a:bodyPr/>
        <a:lstStyle/>
        <a:p>
          <a:endParaRPr lang="en-US" sz="1600" b="1">
            <a:solidFill>
              <a:schemeClr val="tx1"/>
            </a:solidFill>
            <a:latin typeface="Georgia Pro Semibold" panose="02040702050405020303" pitchFamily="18" charset="0"/>
          </a:endParaRPr>
        </a:p>
      </dgm:t>
    </dgm:pt>
    <dgm:pt modelId="{5821D68A-DC71-4E42-8A63-CFA680EC1AE5}" type="pres">
      <dgm:prSet presAssocID="{59D461DD-29A7-4DF1-A5F6-D361523AD98B}" presName="root" presStyleCnt="0">
        <dgm:presLayoutVars>
          <dgm:dir/>
          <dgm:resizeHandles val="exact"/>
        </dgm:presLayoutVars>
      </dgm:prSet>
      <dgm:spPr/>
    </dgm:pt>
    <dgm:pt modelId="{0407C20F-22AB-4121-AD5F-8FC11A10D3AE}" type="pres">
      <dgm:prSet presAssocID="{71402D3E-B230-48F5-AF49-F5EE5BC45529}" presName="compNode" presStyleCnt="0"/>
      <dgm:spPr/>
    </dgm:pt>
    <dgm:pt modelId="{0BB51259-222F-4067-8238-F63624790A00}" type="pres">
      <dgm:prSet presAssocID="{71402D3E-B230-48F5-AF49-F5EE5BC45529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nections"/>
        </a:ext>
      </dgm:extLst>
    </dgm:pt>
    <dgm:pt modelId="{134DA560-F3A2-482B-B0B2-3FC239F8713A}" type="pres">
      <dgm:prSet presAssocID="{71402D3E-B230-48F5-AF49-F5EE5BC45529}" presName="spaceRect" presStyleCnt="0"/>
      <dgm:spPr/>
    </dgm:pt>
    <dgm:pt modelId="{ADE81164-D6B6-444D-86BB-F8FFA57B08B5}" type="pres">
      <dgm:prSet presAssocID="{71402D3E-B230-48F5-AF49-F5EE5BC45529}" presName="textRect" presStyleLbl="revTx" presStyleIdx="0" presStyleCnt="5">
        <dgm:presLayoutVars>
          <dgm:chMax val="1"/>
          <dgm:chPref val="1"/>
        </dgm:presLayoutVars>
      </dgm:prSet>
      <dgm:spPr/>
    </dgm:pt>
    <dgm:pt modelId="{BFDD6097-44C2-4611-8631-8FBB4F3CE7B8}" type="pres">
      <dgm:prSet presAssocID="{07E7E9DA-731A-47DB-8BDF-7BE459ADD62C}" presName="sibTrans" presStyleCnt="0"/>
      <dgm:spPr/>
    </dgm:pt>
    <dgm:pt modelId="{BBA22720-7909-47DC-A3BC-B23AA310016F}" type="pres">
      <dgm:prSet presAssocID="{BF4567D0-ECD2-4864-8229-FF5B19F46AED}" presName="compNode" presStyleCnt="0"/>
      <dgm:spPr/>
    </dgm:pt>
    <dgm:pt modelId="{03F4805D-0782-4036-89F1-F0DDE201AB84}" type="pres">
      <dgm:prSet presAssocID="{BF4567D0-ECD2-4864-8229-FF5B19F46AED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FD79B4E4-8F86-4CAC-9C6A-B62CFEF09237}" type="pres">
      <dgm:prSet presAssocID="{BF4567D0-ECD2-4864-8229-FF5B19F46AED}" presName="spaceRect" presStyleCnt="0"/>
      <dgm:spPr/>
    </dgm:pt>
    <dgm:pt modelId="{90D76CB7-53F9-491B-8590-D150BA3A902A}" type="pres">
      <dgm:prSet presAssocID="{BF4567D0-ECD2-4864-8229-FF5B19F46AED}" presName="textRect" presStyleLbl="revTx" presStyleIdx="1" presStyleCnt="5">
        <dgm:presLayoutVars>
          <dgm:chMax val="1"/>
          <dgm:chPref val="1"/>
        </dgm:presLayoutVars>
      </dgm:prSet>
      <dgm:spPr/>
    </dgm:pt>
    <dgm:pt modelId="{3676DAD8-DE8E-480D-B9CE-F9ACC6FD2A49}" type="pres">
      <dgm:prSet presAssocID="{13E3E068-5FFE-421C-A5D5-7A7FBEA94C7E}" presName="sibTrans" presStyleCnt="0"/>
      <dgm:spPr/>
    </dgm:pt>
    <dgm:pt modelId="{5EB82C7A-7BF0-497A-99A5-6D654D82C966}" type="pres">
      <dgm:prSet presAssocID="{89A9AFC6-1C6C-4AA0-B89E-2B435AAE8A80}" presName="compNode" presStyleCnt="0"/>
      <dgm:spPr/>
    </dgm:pt>
    <dgm:pt modelId="{A4DC8C32-F95D-4A20-8207-86CD0E2CA6E6}" type="pres">
      <dgm:prSet presAssocID="{89A9AFC6-1C6C-4AA0-B89E-2B435AAE8A80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92613D9F-6548-451E-9B3D-EF82034BAA11}" type="pres">
      <dgm:prSet presAssocID="{89A9AFC6-1C6C-4AA0-B89E-2B435AAE8A80}" presName="spaceRect" presStyleCnt="0"/>
      <dgm:spPr/>
    </dgm:pt>
    <dgm:pt modelId="{FCED1AF8-82C1-4052-BE0D-60E007072CE4}" type="pres">
      <dgm:prSet presAssocID="{89A9AFC6-1C6C-4AA0-B89E-2B435AAE8A80}" presName="textRect" presStyleLbl="revTx" presStyleIdx="2" presStyleCnt="5">
        <dgm:presLayoutVars>
          <dgm:chMax val="1"/>
          <dgm:chPref val="1"/>
        </dgm:presLayoutVars>
      </dgm:prSet>
      <dgm:spPr/>
    </dgm:pt>
    <dgm:pt modelId="{8535B373-42A0-43EF-9256-E904A099D624}" type="pres">
      <dgm:prSet presAssocID="{B3E3C1CA-DB6D-402E-959D-0C9DFBF8261D}" presName="sibTrans" presStyleCnt="0"/>
      <dgm:spPr/>
    </dgm:pt>
    <dgm:pt modelId="{36AB8102-BEE3-4D48-A59D-277EF9E28A24}" type="pres">
      <dgm:prSet presAssocID="{82536F02-05F3-438D-B850-B56642C713E5}" presName="compNode" presStyleCnt="0"/>
      <dgm:spPr/>
    </dgm:pt>
    <dgm:pt modelId="{295FF6EA-7D8E-404D-949A-10F339201C49}" type="pres">
      <dgm:prSet presAssocID="{82536F02-05F3-438D-B850-B56642C713E5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A9F0E9E-DF1A-4911-A072-51EE1FEA5937}" type="pres">
      <dgm:prSet presAssocID="{82536F02-05F3-438D-B850-B56642C713E5}" presName="spaceRect" presStyleCnt="0"/>
      <dgm:spPr/>
    </dgm:pt>
    <dgm:pt modelId="{54131CE0-F3BA-4E21-95A9-905E191DD30B}" type="pres">
      <dgm:prSet presAssocID="{82536F02-05F3-438D-B850-B56642C713E5}" presName="textRect" presStyleLbl="revTx" presStyleIdx="3" presStyleCnt="5">
        <dgm:presLayoutVars>
          <dgm:chMax val="1"/>
          <dgm:chPref val="1"/>
        </dgm:presLayoutVars>
      </dgm:prSet>
      <dgm:spPr/>
    </dgm:pt>
    <dgm:pt modelId="{D3AAC6E9-C9E4-4764-AB30-A44B0E2F55A6}" type="pres">
      <dgm:prSet presAssocID="{B26AE5B4-5544-4348-B3F8-C8E4E9AF7229}" presName="sibTrans" presStyleCnt="0"/>
      <dgm:spPr/>
    </dgm:pt>
    <dgm:pt modelId="{3C920074-830D-4BF2-8324-D6EACD1503A7}" type="pres">
      <dgm:prSet presAssocID="{57EF6E56-0801-4231-92F6-CEB7857FCDFA}" presName="compNode" presStyleCnt="0"/>
      <dgm:spPr/>
    </dgm:pt>
    <dgm:pt modelId="{62C8BD2E-8AF7-4DBC-8358-E1B28E51BCF7}" type="pres">
      <dgm:prSet presAssocID="{57EF6E56-0801-4231-92F6-CEB7857FCDFA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tterfly"/>
        </a:ext>
      </dgm:extLst>
    </dgm:pt>
    <dgm:pt modelId="{C25B1AA6-B971-4F40-8245-55875AC49E94}" type="pres">
      <dgm:prSet presAssocID="{57EF6E56-0801-4231-92F6-CEB7857FCDFA}" presName="spaceRect" presStyleCnt="0"/>
      <dgm:spPr/>
    </dgm:pt>
    <dgm:pt modelId="{83DE314F-E2BA-4E12-8600-01FF9B8AF054}" type="pres">
      <dgm:prSet presAssocID="{57EF6E56-0801-4231-92F6-CEB7857FCDFA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DD02800D-A6CA-49AC-A5B4-2A3CAFA6CD5A}" type="presOf" srcId="{BF4567D0-ECD2-4864-8229-FF5B19F46AED}" destId="{90D76CB7-53F9-491B-8590-D150BA3A902A}" srcOrd="0" destOrd="0" presId="urn:microsoft.com/office/officeart/2018/2/layout/IconLabelList"/>
    <dgm:cxn modelId="{5107321D-1A38-4954-B5F1-70E5DDBAC0FD}" srcId="{59D461DD-29A7-4DF1-A5F6-D361523AD98B}" destId="{57EF6E56-0801-4231-92F6-CEB7857FCDFA}" srcOrd="4" destOrd="0" parTransId="{1819D32C-0197-4165-B8CA-CB97F2F1108F}" sibTransId="{EEA03BFD-32FC-4203-86C3-4927E8B681D4}"/>
    <dgm:cxn modelId="{41709228-AC40-4310-B85F-004FC2A74C33}" type="presOf" srcId="{59D461DD-29A7-4DF1-A5F6-D361523AD98B}" destId="{5821D68A-DC71-4E42-8A63-CFA680EC1AE5}" srcOrd="0" destOrd="0" presId="urn:microsoft.com/office/officeart/2018/2/layout/IconLabelList"/>
    <dgm:cxn modelId="{76B35660-167A-46A3-A4BB-B8C1486AB42E}" type="presOf" srcId="{57EF6E56-0801-4231-92F6-CEB7857FCDFA}" destId="{83DE314F-E2BA-4E12-8600-01FF9B8AF054}" srcOrd="0" destOrd="0" presId="urn:microsoft.com/office/officeart/2018/2/layout/IconLabelList"/>
    <dgm:cxn modelId="{FDD89653-3BAA-4243-B9A4-5C2C27CFE9EC}" type="presOf" srcId="{82536F02-05F3-438D-B850-B56642C713E5}" destId="{54131CE0-F3BA-4E21-95A9-905E191DD30B}" srcOrd="0" destOrd="0" presId="urn:microsoft.com/office/officeart/2018/2/layout/IconLabelList"/>
    <dgm:cxn modelId="{B77EAD56-CFBF-4047-AB9B-F337801B3C9D}" type="presOf" srcId="{71402D3E-B230-48F5-AF49-F5EE5BC45529}" destId="{ADE81164-D6B6-444D-86BB-F8FFA57B08B5}" srcOrd="0" destOrd="0" presId="urn:microsoft.com/office/officeart/2018/2/layout/IconLabelList"/>
    <dgm:cxn modelId="{821CC478-D904-4BFC-B100-A1EAAE5715F3}" srcId="{59D461DD-29A7-4DF1-A5F6-D361523AD98B}" destId="{BF4567D0-ECD2-4864-8229-FF5B19F46AED}" srcOrd="1" destOrd="0" parTransId="{CEB8E7CE-0DEB-4AE9-A218-C5EF4334162E}" sibTransId="{13E3E068-5FFE-421C-A5D5-7A7FBEA94C7E}"/>
    <dgm:cxn modelId="{B8025995-8C83-4482-A99F-EA6940A603D0}" srcId="{59D461DD-29A7-4DF1-A5F6-D361523AD98B}" destId="{82536F02-05F3-438D-B850-B56642C713E5}" srcOrd="3" destOrd="0" parTransId="{1679B751-BC19-41B5-95E0-3C6FDF07A7C5}" sibTransId="{B26AE5B4-5544-4348-B3F8-C8E4E9AF7229}"/>
    <dgm:cxn modelId="{89E7BB96-5197-4B28-949E-07750E71307F}" srcId="{59D461DD-29A7-4DF1-A5F6-D361523AD98B}" destId="{89A9AFC6-1C6C-4AA0-B89E-2B435AAE8A80}" srcOrd="2" destOrd="0" parTransId="{AF9AD54D-E0F7-493B-AD24-3DE48416D242}" sibTransId="{B3E3C1CA-DB6D-402E-959D-0C9DFBF8261D}"/>
    <dgm:cxn modelId="{1C0CC5A9-1DDD-47B8-A111-822B9839CD30}" type="presOf" srcId="{89A9AFC6-1C6C-4AA0-B89E-2B435AAE8A80}" destId="{FCED1AF8-82C1-4052-BE0D-60E007072CE4}" srcOrd="0" destOrd="0" presId="urn:microsoft.com/office/officeart/2018/2/layout/IconLabelList"/>
    <dgm:cxn modelId="{DDA981C6-FBC1-4A5E-9DD5-5DCA1AFED615}" srcId="{59D461DD-29A7-4DF1-A5F6-D361523AD98B}" destId="{71402D3E-B230-48F5-AF49-F5EE5BC45529}" srcOrd="0" destOrd="0" parTransId="{D4C4878F-ACD2-4E81-928D-EC60D445C5E8}" sibTransId="{07E7E9DA-731A-47DB-8BDF-7BE459ADD62C}"/>
    <dgm:cxn modelId="{DDE33424-0275-472A-B683-8A57B96BAC80}" type="presParOf" srcId="{5821D68A-DC71-4E42-8A63-CFA680EC1AE5}" destId="{0407C20F-22AB-4121-AD5F-8FC11A10D3AE}" srcOrd="0" destOrd="0" presId="urn:microsoft.com/office/officeart/2018/2/layout/IconLabelList"/>
    <dgm:cxn modelId="{1C378154-0198-4ABF-B439-B5B9996A6059}" type="presParOf" srcId="{0407C20F-22AB-4121-AD5F-8FC11A10D3AE}" destId="{0BB51259-222F-4067-8238-F63624790A00}" srcOrd="0" destOrd="0" presId="urn:microsoft.com/office/officeart/2018/2/layout/IconLabelList"/>
    <dgm:cxn modelId="{49281EEB-307B-4AF8-A2E5-7047BF4A8868}" type="presParOf" srcId="{0407C20F-22AB-4121-AD5F-8FC11A10D3AE}" destId="{134DA560-F3A2-482B-B0B2-3FC239F8713A}" srcOrd="1" destOrd="0" presId="urn:microsoft.com/office/officeart/2018/2/layout/IconLabelList"/>
    <dgm:cxn modelId="{34DB18D7-E811-48E4-A998-5FFE25409E81}" type="presParOf" srcId="{0407C20F-22AB-4121-AD5F-8FC11A10D3AE}" destId="{ADE81164-D6B6-444D-86BB-F8FFA57B08B5}" srcOrd="2" destOrd="0" presId="urn:microsoft.com/office/officeart/2018/2/layout/IconLabelList"/>
    <dgm:cxn modelId="{D7CF136C-A1FF-4F0B-B677-7E15B6140ABF}" type="presParOf" srcId="{5821D68A-DC71-4E42-8A63-CFA680EC1AE5}" destId="{BFDD6097-44C2-4611-8631-8FBB4F3CE7B8}" srcOrd="1" destOrd="0" presId="urn:microsoft.com/office/officeart/2018/2/layout/IconLabelList"/>
    <dgm:cxn modelId="{C63C2A9B-75FB-4D50-8C04-2183AFB2D6F6}" type="presParOf" srcId="{5821D68A-DC71-4E42-8A63-CFA680EC1AE5}" destId="{BBA22720-7909-47DC-A3BC-B23AA310016F}" srcOrd="2" destOrd="0" presId="urn:microsoft.com/office/officeart/2018/2/layout/IconLabelList"/>
    <dgm:cxn modelId="{8A2C2153-7D19-4F3D-84D5-46A38B40EA87}" type="presParOf" srcId="{BBA22720-7909-47DC-A3BC-B23AA310016F}" destId="{03F4805D-0782-4036-89F1-F0DDE201AB84}" srcOrd="0" destOrd="0" presId="urn:microsoft.com/office/officeart/2018/2/layout/IconLabelList"/>
    <dgm:cxn modelId="{09631E29-00DC-4D2E-81A0-36DA5C9DF117}" type="presParOf" srcId="{BBA22720-7909-47DC-A3BC-B23AA310016F}" destId="{FD79B4E4-8F86-4CAC-9C6A-B62CFEF09237}" srcOrd="1" destOrd="0" presId="urn:microsoft.com/office/officeart/2018/2/layout/IconLabelList"/>
    <dgm:cxn modelId="{13FEC51C-29FC-4D33-A572-C7424AC5BA80}" type="presParOf" srcId="{BBA22720-7909-47DC-A3BC-B23AA310016F}" destId="{90D76CB7-53F9-491B-8590-D150BA3A902A}" srcOrd="2" destOrd="0" presId="urn:microsoft.com/office/officeart/2018/2/layout/IconLabelList"/>
    <dgm:cxn modelId="{72A64741-C367-4DC6-AA68-4A015D3872CE}" type="presParOf" srcId="{5821D68A-DC71-4E42-8A63-CFA680EC1AE5}" destId="{3676DAD8-DE8E-480D-B9CE-F9ACC6FD2A49}" srcOrd="3" destOrd="0" presId="urn:microsoft.com/office/officeart/2018/2/layout/IconLabelList"/>
    <dgm:cxn modelId="{C99DDC85-C7AB-4A68-942F-451EC7E7369D}" type="presParOf" srcId="{5821D68A-DC71-4E42-8A63-CFA680EC1AE5}" destId="{5EB82C7A-7BF0-497A-99A5-6D654D82C966}" srcOrd="4" destOrd="0" presId="urn:microsoft.com/office/officeart/2018/2/layout/IconLabelList"/>
    <dgm:cxn modelId="{FB914CE5-439C-4FEB-B76A-79BB65E11D24}" type="presParOf" srcId="{5EB82C7A-7BF0-497A-99A5-6D654D82C966}" destId="{A4DC8C32-F95D-4A20-8207-86CD0E2CA6E6}" srcOrd="0" destOrd="0" presId="urn:microsoft.com/office/officeart/2018/2/layout/IconLabelList"/>
    <dgm:cxn modelId="{BD4EABAD-4B2E-42AC-8AD1-47D043383371}" type="presParOf" srcId="{5EB82C7A-7BF0-497A-99A5-6D654D82C966}" destId="{92613D9F-6548-451E-9B3D-EF82034BAA11}" srcOrd="1" destOrd="0" presId="urn:microsoft.com/office/officeart/2018/2/layout/IconLabelList"/>
    <dgm:cxn modelId="{3915C084-CAC5-4205-8F73-FD6EED9BDDD1}" type="presParOf" srcId="{5EB82C7A-7BF0-497A-99A5-6D654D82C966}" destId="{FCED1AF8-82C1-4052-BE0D-60E007072CE4}" srcOrd="2" destOrd="0" presId="urn:microsoft.com/office/officeart/2018/2/layout/IconLabelList"/>
    <dgm:cxn modelId="{A8E29669-109C-4261-82FE-0CA2CDFEC01F}" type="presParOf" srcId="{5821D68A-DC71-4E42-8A63-CFA680EC1AE5}" destId="{8535B373-42A0-43EF-9256-E904A099D624}" srcOrd="5" destOrd="0" presId="urn:microsoft.com/office/officeart/2018/2/layout/IconLabelList"/>
    <dgm:cxn modelId="{9BFBBB56-84AD-4F56-85BC-9411F6CEB4AA}" type="presParOf" srcId="{5821D68A-DC71-4E42-8A63-CFA680EC1AE5}" destId="{36AB8102-BEE3-4D48-A59D-277EF9E28A24}" srcOrd="6" destOrd="0" presId="urn:microsoft.com/office/officeart/2018/2/layout/IconLabelList"/>
    <dgm:cxn modelId="{3C9DA662-5A5E-4A35-ACFF-B5E1E8E1163A}" type="presParOf" srcId="{36AB8102-BEE3-4D48-A59D-277EF9E28A24}" destId="{295FF6EA-7D8E-404D-949A-10F339201C49}" srcOrd="0" destOrd="0" presId="urn:microsoft.com/office/officeart/2018/2/layout/IconLabelList"/>
    <dgm:cxn modelId="{59D9761B-B27D-4095-A390-C569FA720FC5}" type="presParOf" srcId="{36AB8102-BEE3-4D48-A59D-277EF9E28A24}" destId="{BA9F0E9E-DF1A-4911-A072-51EE1FEA5937}" srcOrd="1" destOrd="0" presId="urn:microsoft.com/office/officeart/2018/2/layout/IconLabelList"/>
    <dgm:cxn modelId="{556420C3-8099-4E5C-92D5-2A74390CA1B7}" type="presParOf" srcId="{36AB8102-BEE3-4D48-A59D-277EF9E28A24}" destId="{54131CE0-F3BA-4E21-95A9-905E191DD30B}" srcOrd="2" destOrd="0" presId="urn:microsoft.com/office/officeart/2018/2/layout/IconLabelList"/>
    <dgm:cxn modelId="{1640A655-2608-4572-B8F8-505CAAEB523F}" type="presParOf" srcId="{5821D68A-DC71-4E42-8A63-CFA680EC1AE5}" destId="{D3AAC6E9-C9E4-4764-AB30-A44B0E2F55A6}" srcOrd="7" destOrd="0" presId="urn:microsoft.com/office/officeart/2018/2/layout/IconLabelList"/>
    <dgm:cxn modelId="{64A50376-FB42-4995-8A85-2BE39A7B2F04}" type="presParOf" srcId="{5821D68A-DC71-4E42-8A63-CFA680EC1AE5}" destId="{3C920074-830D-4BF2-8324-D6EACD1503A7}" srcOrd="8" destOrd="0" presId="urn:microsoft.com/office/officeart/2018/2/layout/IconLabelList"/>
    <dgm:cxn modelId="{54AA2A36-FA1C-499C-A41F-6D70ADE4D34F}" type="presParOf" srcId="{3C920074-830D-4BF2-8324-D6EACD1503A7}" destId="{62C8BD2E-8AF7-4DBC-8358-E1B28E51BCF7}" srcOrd="0" destOrd="0" presId="urn:microsoft.com/office/officeart/2018/2/layout/IconLabelList"/>
    <dgm:cxn modelId="{D7576B7D-030F-4425-B02F-79222C7B6C94}" type="presParOf" srcId="{3C920074-830D-4BF2-8324-D6EACD1503A7}" destId="{C25B1AA6-B971-4F40-8245-55875AC49E94}" srcOrd="1" destOrd="0" presId="urn:microsoft.com/office/officeart/2018/2/layout/IconLabelList"/>
    <dgm:cxn modelId="{76FF9FD3-DB76-4D3A-8A9E-FB6B08E09C5E}" type="presParOf" srcId="{3C920074-830D-4BF2-8324-D6EACD1503A7}" destId="{83DE314F-E2BA-4E12-8600-01FF9B8AF05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50CAB4A-FA2A-4F5C-8918-429C2B0A439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2553F54-B162-4D96-BDA4-DEE2AD3DA79E}">
      <dgm:prSet/>
      <dgm:spPr/>
      <dgm:t>
        <a:bodyPr/>
        <a:lstStyle/>
        <a:p>
          <a:r>
            <a:rPr lang="en-CA"/>
            <a:t>AI-Prescriptive Logic: Unlike standard trackers, SafeSight uses a Random Forest Classifier to suggest immediate "Strategic Actions.</a:t>
          </a:r>
          <a:endParaRPr lang="en-US"/>
        </a:p>
      </dgm:t>
    </dgm:pt>
    <dgm:pt modelId="{D356467D-F2F4-4F35-A173-30BC459951E3}" type="parTrans" cxnId="{BA162D08-E22A-401D-A0DB-686372675FAC}">
      <dgm:prSet/>
      <dgm:spPr/>
      <dgm:t>
        <a:bodyPr/>
        <a:lstStyle/>
        <a:p>
          <a:endParaRPr lang="en-US"/>
        </a:p>
      </dgm:t>
    </dgm:pt>
    <dgm:pt modelId="{BAB4B5C1-29D8-41B0-ACE4-6371AF3A14AB}" type="sibTrans" cxnId="{BA162D08-E22A-401D-A0DB-686372675FAC}">
      <dgm:prSet/>
      <dgm:spPr/>
      <dgm:t>
        <a:bodyPr/>
        <a:lstStyle/>
        <a:p>
          <a:endParaRPr lang="en-US"/>
        </a:p>
      </dgm:t>
    </dgm:pt>
    <dgm:pt modelId="{7891BC41-374D-4FFB-BAE8-A1F59894DCCE}">
      <dgm:prSet/>
      <dgm:spPr/>
      <dgm:t>
        <a:bodyPr/>
        <a:lstStyle/>
        <a:p>
          <a:r>
            <a:rPr lang="en-CA"/>
            <a:t>"Heuristic Dashboarding: Utilizes pre-attentive attributes (color-coding and urgency markers) to reduce cognitive load for managers during high-stress shifts.</a:t>
          </a:r>
          <a:endParaRPr lang="en-US"/>
        </a:p>
      </dgm:t>
    </dgm:pt>
    <dgm:pt modelId="{3EEA1F69-720C-462B-82B4-D5C3DEB53B60}" type="parTrans" cxnId="{968090A5-AE03-4E98-97CC-3FDCB2C5298C}">
      <dgm:prSet/>
      <dgm:spPr/>
      <dgm:t>
        <a:bodyPr/>
        <a:lstStyle/>
        <a:p>
          <a:endParaRPr lang="en-US"/>
        </a:p>
      </dgm:t>
    </dgm:pt>
    <dgm:pt modelId="{EC09C5DC-5092-4411-AC85-8281935EE333}" type="sibTrans" cxnId="{968090A5-AE03-4E98-97CC-3FDCB2C5298C}">
      <dgm:prSet/>
      <dgm:spPr/>
      <dgm:t>
        <a:bodyPr/>
        <a:lstStyle/>
        <a:p>
          <a:endParaRPr lang="en-US"/>
        </a:p>
      </dgm:t>
    </dgm:pt>
    <dgm:pt modelId="{50D36010-6A23-46CE-8265-98276E21B118}">
      <dgm:prSet/>
      <dgm:spPr/>
      <dgm:t>
        <a:bodyPr/>
        <a:lstStyle/>
        <a:p>
          <a:r>
            <a:rPr lang="en-CA"/>
            <a:t>Compliance Bridge: Direct data-mapping from a SQL backend to WorkSafeBC official report formats.</a:t>
          </a:r>
          <a:endParaRPr lang="en-US"/>
        </a:p>
      </dgm:t>
    </dgm:pt>
    <dgm:pt modelId="{F0C43E0C-3D76-4301-A4BA-4C8541936A44}" type="parTrans" cxnId="{609A7780-D3F6-4B5A-92B6-63DCE4D5F90B}">
      <dgm:prSet/>
      <dgm:spPr/>
      <dgm:t>
        <a:bodyPr/>
        <a:lstStyle/>
        <a:p>
          <a:endParaRPr lang="en-US"/>
        </a:p>
      </dgm:t>
    </dgm:pt>
    <dgm:pt modelId="{DA0A385E-B7A4-4E87-9B6F-426D1E9D06B9}" type="sibTrans" cxnId="{609A7780-D3F6-4B5A-92B6-63DCE4D5F90B}">
      <dgm:prSet/>
      <dgm:spPr/>
      <dgm:t>
        <a:bodyPr/>
        <a:lstStyle/>
        <a:p>
          <a:endParaRPr lang="en-US"/>
        </a:p>
      </dgm:t>
    </dgm:pt>
    <dgm:pt modelId="{E9AD24E8-0B3D-4601-A698-62434C09B023}" type="pres">
      <dgm:prSet presAssocID="{250CAB4A-FA2A-4F5C-8918-429C2B0A4397}" presName="root" presStyleCnt="0">
        <dgm:presLayoutVars>
          <dgm:dir/>
          <dgm:resizeHandles val="exact"/>
        </dgm:presLayoutVars>
      </dgm:prSet>
      <dgm:spPr/>
    </dgm:pt>
    <dgm:pt modelId="{F73BE8E0-5606-413A-B00A-46D5C8C0F6D1}" type="pres">
      <dgm:prSet presAssocID="{D2553F54-B162-4D96-BDA4-DEE2AD3DA79E}" presName="compNode" presStyleCnt="0"/>
      <dgm:spPr/>
    </dgm:pt>
    <dgm:pt modelId="{AF8C3B7E-6101-4660-BF98-06CCF08456D6}" type="pres">
      <dgm:prSet presAssocID="{D2553F54-B162-4D96-BDA4-DEE2AD3DA79E}" presName="bgRect" presStyleLbl="bgShp" presStyleIdx="0" presStyleCnt="3"/>
      <dgm:spPr/>
    </dgm:pt>
    <dgm:pt modelId="{72A1C651-1B8E-4747-94F1-FD23BB50064D}" type="pres">
      <dgm:prSet presAssocID="{D2553F54-B162-4D96-BDA4-DEE2AD3DA79E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8B01EA3-1B8C-4DF7-8126-8D560C191466}" type="pres">
      <dgm:prSet presAssocID="{D2553F54-B162-4D96-BDA4-DEE2AD3DA79E}" presName="spaceRect" presStyleCnt="0"/>
      <dgm:spPr/>
    </dgm:pt>
    <dgm:pt modelId="{03B9EDEC-B2C4-430F-B441-1E08FFA64677}" type="pres">
      <dgm:prSet presAssocID="{D2553F54-B162-4D96-BDA4-DEE2AD3DA79E}" presName="parTx" presStyleLbl="revTx" presStyleIdx="0" presStyleCnt="3">
        <dgm:presLayoutVars>
          <dgm:chMax val="0"/>
          <dgm:chPref val="0"/>
        </dgm:presLayoutVars>
      </dgm:prSet>
      <dgm:spPr/>
    </dgm:pt>
    <dgm:pt modelId="{6D4B28FF-9B0F-4944-B897-C59E7EA387E4}" type="pres">
      <dgm:prSet presAssocID="{BAB4B5C1-29D8-41B0-ACE4-6371AF3A14AB}" presName="sibTrans" presStyleCnt="0"/>
      <dgm:spPr/>
    </dgm:pt>
    <dgm:pt modelId="{4AF1CADD-9FB8-4843-8046-293C80FED121}" type="pres">
      <dgm:prSet presAssocID="{7891BC41-374D-4FFB-BAE8-A1F59894DCCE}" presName="compNode" presStyleCnt="0"/>
      <dgm:spPr/>
    </dgm:pt>
    <dgm:pt modelId="{A51F06E9-DFB8-4CA5-82F4-36842914621E}" type="pres">
      <dgm:prSet presAssocID="{7891BC41-374D-4FFB-BAE8-A1F59894DCCE}" presName="bgRect" presStyleLbl="bgShp" presStyleIdx="1" presStyleCnt="3"/>
      <dgm:spPr/>
    </dgm:pt>
    <dgm:pt modelId="{B265A410-B011-4DF9-874E-F8F8E21C75B2}" type="pres">
      <dgm:prSet presAssocID="{7891BC41-374D-4FFB-BAE8-A1F59894DCCE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8FB6A2DB-CFFB-4EE3-ADD7-3D94233E5293}" type="pres">
      <dgm:prSet presAssocID="{7891BC41-374D-4FFB-BAE8-A1F59894DCCE}" presName="spaceRect" presStyleCnt="0"/>
      <dgm:spPr/>
    </dgm:pt>
    <dgm:pt modelId="{FEB7FDCC-B832-450A-8095-3F63BF24AA12}" type="pres">
      <dgm:prSet presAssocID="{7891BC41-374D-4FFB-BAE8-A1F59894DCCE}" presName="parTx" presStyleLbl="revTx" presStyleIdx="1" presStyleCnt="3">
        <dgm:presLayoutVars>
          <dgm:chMax val="0"/>
          <dgm:chPref val="0"/>
        </dgm:presLayoutVars>
      </dgm:prSet>
      <dgm:spPr/>
    </dgm:pt>
    <dgm:pt modelId="{8F9153E1-A0FE-4285-A698-116DBFBB1576}" type="pres">
      <dgm:prSet presAssocID="{EC09C5DC-5092-4411-AC85-8281935EE333}" presName="sibTrans" presStyleCnt="0"/>
      <dgm:spPr/>
    </dgm:pt>
    <dgm:pt modelId="{C8DC04A4-572D-4C6B-B55A-C11A4AA81F6F}" type="pres">
      <dgm:prSet presAssocID="{50D36010-6A23-46CE-8265-98276E21B118}" presName="compNode" presStyleCnt="0"/>
      <dgm:spPr/>
    </dgm:pt>
    <dgm:pt modelId="{12130168-01EC-4AE9-B291-4119CECEA129}" type="pres">
      <dgm:prSet presAssocID="{50D36010-6A23-46CE-8265-98276E21B118}" presName="bgRect" presStyleLbl="bgShp" presStyleIdx="2" presStyleCnt="3"/>
      <dgm:spPr/>
    </dgm:pt>
    <dgm:pt modelId="{F4113AC4-4FD2-4130-A6FE-AF577CC8B7ED}" type="pres">
      <dgm:prSet presAssocID="{50D36010-6A23-46CE-8265-98276E21B118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6F248D6-A0D5-4C30-875A-356C67E310C8}" type="pres">
      <dgm:prSet presAssocID="{50D36010-6A23-46CE-8265-98276E21B118}" presName="spaceRect" presStyleCnt="0"/>
      <dgm:spPr/>
    </dgm:pt>
    <dgm:pt modelId="{AEFD9CBE-1B50-49EA-9DF6-690EDD306F0C}" type="pres">
      <dgm:prSet presAssocID="{50D36010-6A23-46CE-8265-98276E21B11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A162D08-E22A-401D-A0DB-686372675FAC}" srcId="{250CAB4A-FA2A-4F5C-8918-429C2B0A4397}" destId="{D2553F54-B162-4D96-BDA4-DEE2AD3DA79E}" srcOrd="0" destOrd="0" parTransId="{D356467D-F2F4-4F35-A173-30BC459951E3}" sibTransId="{BAB4B5C1-29D8-41B0-ACE4-6371AF3A14AB}"/>
    <dgm:cxn modelId="{2C880417-B2FB-4FA5-BB25-9E316737BAFE}" type="presOf" srcId="{7891BC41-374D-4FFB-BAE8-A1F59894DCCE}" destId="{FEB7FDCC-B832-450A-8095-3F63BF24AA12}" srcOrd="0" destOrd="0" presId="urn:microsoft.com/office/officeart/2018/2/layout/IconVerticalSolidList"/>
    <dgm:cxn modelId="{8E24654D-A932-4F2D-8EA7-1D8740284528}" type="presOf" srcId="{D2553F54-B162-4D96-BDA4-DEE2AD3DA79E}" destId="{03B9EDEC-B2C4-430F-B441-1E08FFA64677}" srcOrd="0" destOrd="0" presId="urn:microsoft.com/office/officeart/2018/2/layout/IconVerticalSolidList"/>
    <dgm:cxn modelId="{609A7780-D3F6-4B5A-92B6-63DCE4D5F90B}" srcId="{250CAB4A-FA2A-4F5C-8918-429C2B0A4397}" destId="{50D36010-6A23-46CE-8265-98276E21B118}" srcOrd="2" destOrd="0" parTransId="{F0C43E0C-3D76-4301-A4BA-4C8541936A44}" sibTransId="{DA0A385E-B7A4-4E87-9B6F-426D1E9D06B9}"/>
    <dgm:cxn modelId="{968090A5-AE03-4E98-97CC-3FDCB2C5298C}" srcId="{250CAB4A-FA2A-4F5C-8918-429C2B0A4397}" destId="{7891BC41-374D-4FFB-BAE8-A1F59894DCCE}" srcOrd="1" destOrd="0" parTransId="{3EEA1F69-720C-462B-82B4-D5C3DEB53B60}" sibTransId="{EC09C5DC-5092-4411-AC85-8281935EE333}"/>
    <dgm:cxn modelId="{6C4158AA-40CB-4B9F-8358-52AD0F22E8CA}" type="presOf" srcId="{250CAB4A-FA2A-4F5C-8918-429C2B0A4397}" destId="{E9AD24E8-0B3D-4601-A698-62434C09B023}" srcOrd="0" destOrd="0" presId="urn:microsoft.com/office/officeart/2018/2/layout/IconVerticalSolidList"/>
    <dgm:cxn modelId="{9E916AC1-94BC-4135-B9EE-FBE434C293C6}" type="presOf" srcId="{50D36010-6A23-46CE-8265-98276E21B118}" destId="{AEFD9CBE-1B50-49EA-9DF6-690EDD306F0C}" srcOrd="0" destOrd="0" presId="urn:microsoft.com/office/officeart/2018/2/layout/IconVerticalSolidList"/>
    <dgm:cxn modelId="{2570C975-2D85-4CF6-8282-94EEA3BD80B0}" type="presParOf" srcId="{E9AD24E8-0B3D-4601-A698-62434C09B023}" destId="{F73BE8E0-5606-413A-B00A-46D5C8C0F6D1}" srcOrd="0" destOrd="0" presId="urn:microsoft.com/office/officeart/2018/2/layout/IconVerticalSolidList"/>
    <dgm:cxn modelId="{A160032C-F1CF-42F8-B71F-A6959A4E7684}" type="presParOf" srcId="{F73BE8E0-5606-413A-B00A-46D5C8C0F6D1}" destId="{AF8C3B7E-6101-4660-BF98-06CCF08456D6}" srcOrd="0" destOrd="0" presId="urn:microsoft.com/office/officeart/2018/2/layout/IconVerticalSolidList"/>
    <dgm:cxn modelId="{C89CDED9-7177-450F-887C-4C8F365488C8}" type="presParOf" srcId="{F73BE8E0-5606-413A-B00A-46D5C8C0F6D1}" destId="{72A1C651-1B8E-4747-94F1-FD23BB50064D}" srcOrd="1" destOrd="0" presId="urn:microsoft.com/office/officeart/2018/2/layout/IconVerticalSolidList"/>
    <dgm:cxn modelId="{13A1C39F-11A5-4407-B0AE-898CF5BFB8BC}" type="presParOf" srcId="{F73BE8E0-5606-413A-B00A-46D5C8C0F6D1}" destId="{B8B01EA3-1B8C-4DF7-8126-8D560C191466}" srcOrd="2" destOrd="0" presId="urn:microsoft.com/office/officeart/2018/2/layout/IconVerticalSolidList"/>
    <dgm:cxn modelId="{7CB8DB02-5C28-47E1-89F3-DD35788CE330}" type="presParOf" srcId="{F73BE8E0-5606-413A-B00A-46D5C8C0F6D1}" destId="{03B9EDEC-B2C4-430F-B441-1E08FFA64677}" srcOrd="3" destOrd="0" presId="urn:microsoft.com/office/officeart/2018/2/layout/IconVerticalSolidList"/>
    <dgm:cxn modelId="{220C3A3F-9BDC-4A64-A469-CF6507664E52}" type="presParOf" srcId="{E9AD24E8-0B3D-4601-A698-62434C09B023}" destId="{6D4B28FF-9B0F-4944-B897-C59E7EA387E4}" srcOrd="1" destOrd="0" presId="urn:microsoft.com/office/officeart/2018/2/layout/IconVerticalSolidList"/>
    <dgm:cxn modelId="{9BBA8520-A10C-4D46-8BF7-4A5E6F8F0D6F}" type="presParOf" srcId="{E9AD24E8-0B3D-4601-A698-62434C09B023}" destId="{4AF1CADD-9FB8-4843-8046-293C80FED121}" srcOrd="2" destOrd="0" presId="urn:microsoft.com/office/officeart/2018/2/layout/IconVerticalSolidList"/>
    <dgm:cxn modelId="{B751E03E-8E00-4877-875E-ACA5498294D6}" type="presParOf" srcId="{4AF1CADD-9FB8-4843-8046-293C80FED121}" destId="{A51F06E9-DFB8-4CA5-82F4-36842914621E}" srcOrd="0" destOrd="0" presId="urn:microsoft.com/office/officeart/2018/2/layout/IconVerticalSolidList"/>
    <dgm:cxn modelId="{74EA1CD7-DD7C-4CC6-AFAC-445E23A17593}" type="presParOf" srcId="{4AF1CADD-9FB8-4843-8046-293C80FED121}" destId="{B265A410-B011-4DF9-874E-F8F8E21C75B2}" srcOrd="1" destOrd="0" presId="urn:microsoft.com/office/officeart/2018/2/layout/IconVerticalSolidList"/>
    <dgm:cxn modelId="{DDB95292-6A14-40FD-AB60-640253AD7BBD}" type="presParOf" srcId="{4AF1CADD-9FB8-4843-8046-293C80FED121}" destId="{8FB6A2DB-CFFB-4EE3-ADD7-3D94233E5293}" srcOrd="2" destOrd="0" presId="urn:microsoft.com/office/officeart/2018/2/layout/IconVerticalSolidList"/>
    <dgm:cxn modelId="{81EF58F0-F3C0-48A6-A24B-3F313369CCD2}" type="presParOf" srcId="{4AF1CADD-9FB8-4843-8046-293C80FED121}" destId="{FEB7FDCC-B832-450A-8095-3F63BF24AA12}" srcOrd="3" destOrd="0" presId="urn:microsoft.com/office/officeart/2018/2/layout/IconVerticalSolidList"/>
    <dgm:cxn modelId="{4CBCE878-2F81-4FD1-B2AA-012C412CFE6D}" type="presParOf" srcId="{E9AD24E8-0B3D-4601-A698-62434C09B023}" destId="{8F9153E1-A0FE-4285-A698-116DBFBB1576}" srcOrd="3" destOrd="0" presId="urn:microsoft.com/office/officeart/2018/2/layout/IconVerticalSolidList"/>
    <dgm:cxn modelId="{D82FC934-F699-4731-BA5F-B19CD15A4D8B}" type="presParOf" srcId="{E9AD24E8-0B3D-4601-A698-62434C09B023}" destId="{C8DC04A4-572D-4C6B-B55A-C11A4AA81F6F}" srcOrd="4" destOrd="0" presId="urn:microsoft.com/office/officeart/2018/2/layout/IconVerticalSolidList"/>
    <dgm:cxn modelId="{7DAF4791-530C-4771-9077-92BA8388C1DA}" type="presParOf" srcId="{C8DC04A4-572D-4C6B-B55A-C11A4AA81F6F}" destId="{12130168-01EC-4AE9-B291-4119CECEA129}" srcOrd="0" destOrd="0" presId="urn:microsoft.com/office/officeart/2018/2/layout/IconVerticalSolidList"/>
    <dgm:cxn modelId="{A3FE09B0-790B-4111-931E-01E9A02C4788}" type="presParOf" srcId="{C8DC04A4-572D-4C6B-B55A-C11A4AA81F6F}" destId="{F4113AC4-4FD2-4130-A6FE-AF577CC8B7ED}" srcOrd="1" destOrd="0" presId="urn:microsoft.com/office/officeart/2018/2/layout/IconVerticalSolidList"/>
    <dgm:cxn modelId="{35B71019-7E16-4E78-A83F-673A889B0226}" type="presParOf" srcId="{C8DC04A4-572D-4C6B-B55A-C11A4AA81F6F}" destId="{A6F248D6-A0D5-4C30-875A-356C67E310C8}" srcOrd="2" destOrd="0" presId="urn:microsoft.com/office/officeart/2018/2/layout/IconVerticalSolidList"/>
    <dgm:cxn modelId="{87426209-C095-43B4-B633-383E4D59FCDA}" type="presParOf" srcId="{C8DC04A4-572D-4C6B-B55A-C11A4AA81F6F}" destId="{AEFD9CBE-1B50-49EA-9DF6-690EDD306F0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81149E9-14E1-4A26-906D-C2E823AD4601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D1F3F6D-80A2-41E3-8DCC-2398DD7EEF1A}">
      <dgm:prSet custT="1"/>
      <dgm:spPr/>
      <dgm:t>
        <a:bodyPr/>
        <a:lstStyle/>
        <a:p>
          <a:r>
            <a:rPr lang="en-US" sz="1800" b="1" i="0" baseline="0">
              <a:latin typeface="Times New Roman" panose="02020603050405020304" pitchFamily="18" charset="0"/>
              <a:cs typeface="Times New Roman" panose="02020603050405020304" pitchFamily="18" charset="0"/>
            </a:rPr>
            <a:t>Phase 1: Entry:</a:t>
          </a:r>
          <a:r>
            <a:rPr lang="en-US" sz="1800" b="0" i="0" baseline="0">
              <a:latin typeface="Times New Roman" panose="02020603050405020304" pitchFamily="18" charset="0"/>
              <a:cs typeface="Times New Roman" panose="02020603050405020304" pitchFamily="18" charset="0"/>
            </a:rPr>
            <a:t> Secure Role-Based Access (Department Manager vs. HR).</a:t>
          </a:r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9667B5D-27A1-4A9F-A59B-80D78CB0A4B4}" type="parTrans" cxnId="{DE9B4D32-A2AA-459A-8A2C-C4CCFA51A670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E785D92-D4A8-4048-B424-C04B0C1C0815}" type="sibTrans" cxnId="{DE9B4D32-A2AA-459A-8A2C-C4CCFA51A670}">
      <dgm:prSet phldrT="1" phldr="0"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1</a:t>
          </a:r>
        </a:p>
      </dgm:t>
    </dgm:pt>
    <dgm:pt modelId="{6BC7469B-FFA9-4442-9EEC-160E63F189BC}">
      <dgm:prSet/>
      <dgm:spPr/>
      <dgm:t>
        <a:bodyPr/>
        <a:lstStyle/>
        <a:p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Phase 2: Input:</a:t>
          </a:r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Standardized incident reporting with narrative capture.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E46C751-DABE-45C6-8188-71E30AC4236D}" type="parTrans" cxnId="{615CC547-A4D9-43F5-97E9-0E991BA2B2B0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02A4FE0-F813-4D6D-B18F-ACF0D01BC976}" type="sibTrans" cxnId="{615CC547-A4D9-43F5-97E9-0E991BA2B2B0}">
      <dgm:prSet phldrT="2" phldr="0"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2</a:t>
          </a:r>
        </a:p>
      </dgm:t>
    </dgm:pt>
    <dgm:pt modelId="{8757D8B7-242B-4593-ACDE-C67F4711ED9F}">
      <dgm:prSet/>
      <dgm:spPr/>
      <dgm:t>
        <a:bodyPr/>
        <a:lstStyle/>
        <a:p>
          <a:r>
            <a:rPr lang="en-US" b="1" i="0" baseline="0">
              <a:latin typeface="Times New Roman" panose="02020603050405020304" pitchFamily="18" charset="0"/>
              <a:cs typeface="Times New Roman" panose="02020603050405020304" pitchFamily="18" charset="0"/>
            </a:rPr>
            <a:t>Phase 3: Analysis:</a:t>
          </a:r>
          <a:r>
            <a:rPr lang="en-US" b="0" i="0" baseline="0">
              <a:latin typeface="Times New Roman" panose="02020603050405020304" pitchFamily="18" charset="0"/>
              <a:cs typeface="Times New Roman" panose="02020603050405020304" pitchFamily="18" charset="0"/>
            </a:rPr>
            <a:t> AI Service processes data to identify risk probabilities.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A631FE1-6C37-47A1-8044-DC7257649031}" type="parTrans" cxnId="{7313760B-27C8-446E-A4EB-155FC04002EA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B574C9B-8FCC-4132-9CFE-1ACA5994B27A}" type="sibTrans" cxnId="{7313760B-27C8-446E-A4EB-155FC04002EA}">
      <dgm:prSet phldrT="3" phldr="0"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3</a:t>
          </a:r>
        </a:p>
      </dgm:t>
    </dgm:pt>
    <dgm:pt modelId="{22F8D26F-B9A3-493C-AFFD-797C6C6B3E2C}">
      <dgm:prSet/>
      <dgm:spPr/>
      <dgm:t>
        <a:bodyPr/>
        <a:lstStyle/>
        <a:p>
          <a:r>
            <a:rPr lang="en-US" b="1" i="0" baseline="0">
              <a:latin typeface="Times New Roman" panose="02020603050405020304" pitchFamily="18" charset="0"/>
              <a:cs typeface="Times New Roman" panose="02020603050405020304" pitchFamily="18" charset="0"/>
            </a:rPr>
            <a:t>Phase 4: Execution:</a:t>
          </a:r>
          <a:r>
            <a:rPr lang="en-US" b="0" i="0" baseline="0">
              <a:latin typeface="Times New Roman" panose="02020603050405020304" pitchFamily="18" charset="0"/>
              <a:cs typeface="Times New Roman" panose="02020603050405020304" pitchFamily="18" charset="0"/>
            </a:rPr>
            <a:t> Real-time Dashboard provides actionable "AI Recommendations."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544863E-DD2A-4B13-BDAC-E8DBD345750A}" type="parTrans" cxnId="{85DBB688-277D-48CA-B3C3-64F6A0294B6C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46A3295-AAF6-4548-A9E5-5A5DA7BA9673}" type="sibTrans" cxnId="{85DBB688-277D-48CA-B3C3-64F6A0294B6C}">
      <dgm:prSet phldrT="4" phldr="0"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4</a:t>
          </a:r>
        </a:p>
      </dgm:t>
    </dgm:pt>
    <dgm:pt modelId="{2CCCF262-3999-42E5-9553-4171FA1F9F8D}">
      <dgm:prSet/>
      <dgm:spPr/>
      <dgm:t>
        <a:bodyPr/>
        <a:lstStyle/>
        <a:p>
          <a:r>
            <a:rPr lang="en-US" b="1" i="0" baseline="0">
              <a:latin typeface="Times New Roman" panose="02020603050405020304" pitchFamily="18" charset="0"/>
              <a:cs typeface="Times New Roman" panose="02020603050405020304" pitchFamily="18" charset="0"/>
            </a:rPr>
            <a:t>Phase 5: Compliance:</a:t>
          </a:r>
          <a:r>
            <a:rPr lang="en-US" b="0" i="0" baseline="0">
              <a:latin typeface="Times New Roman" panose="02020603050405020304" pitchFamily="18" charset="0"/>
              <a:cs typeface="Times New Roman" panose="02020603050405020304" pitchFamily="18" charset="0"/>
            </a:rPr>
            <a:t> One-click PDF/Excel export for regulatory submission.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DC02488-7322-476A-848F-DDA2064C987B}" type="parTrans" cxnId="{BB1F0565-E434-49D4-A34B-EF2CA6AB33F2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1E21F01-011C-4E85-9958-9940BBB87DF2}" type="sibTrans" cxnId="{BB1F0565-E434-49D4-A34B-EF2CA6AB33F2}">
      <dgm:prSet phldrT="5" phldr="0"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5</a:t>
          </a:r>
        </a:p>
      </dgm:t>
    </dgm:pt>
    <dgm:pt modelId="{CD9FACE4-6338-4373-9FD7-A198A7C2FB31}" type="pres">
      <dgm:prSet presAssocID="{381149E9-14E1-4A26-906D-C2E823AD4601}" presName="linearFlow" presStyleCnt="0">
        <dgm:presLayoutVars>
          <dgm:dir/>
          <dgm:animLvl val="lvl"/>
          <dgm:resizeHandles val="exact"/>
        </dgm:presLayoutVars>
      </dgm:prSet>
      <dgm:spPr/>
    </dgm:pt>
    <dgm:pt modelId="{2760A695-1AD5-46DB-B63A-7CF0C5E5E73B}" type="pres">
      <dgm:prSet presAssocID="{4D1F3F6D-80A2-41E3-8DCC-2398DD7EEF1A}" presName="compositeNode" presStyleCnt="0"/>
      <dgm:spPr/>
    </dgm:pt>
    <dgm:pt modelId="{E6ABBD1C-C11A-4D7E-BE5E-5D817152BF47}" type="pres">
      <dgm:prSet presAssocID="{4D1F3F6D-80A2-41E3-8DCC-2398DD7EEF1A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98034EA5-88F5-400C-836F-6ACCE6462383}" type="pres">
      <dgm:prSet presAssocID="{4D1F3F6D-80A2-41E3-8DCC-2398DD7EEF1A}" presName="parSh" presStyleCnt="0"/>
      <dgm:spPr/>
    </dgm:pt>
    <dgm:pt modelId="{84404930-8256-47D4-AC8B-E2D9CB3D4B87}" type="pres">
      <dgm:prSet presAssocID="{4D1F3F6D-80A2-41E3-8DCC-2398DD7EEF1A}" presName="lineNode" presStyleLbl="alignAccFollowNode1" presStyleIdx="0" presStyleCnt="15"/>
      <dgm:spPr/>
    </dgm:pt>
    <dgm:pt modelId="{2E070E90-C9FF-49B3-8B98-138718980BE2}" type="pres">
      <dgm:prSet presAssocID="{4D1F3F6D-80A2-41E3-8DCC-2398DD7EEF1A}" presName="lineArrowNode" presStyleLbl="alignAccFollowNode1" presStyleIdx="1" presStyleCnt="15"/>
      <dgm:spPr/>
    </dgm:pt>
    <dgm:pt modelId="{59D52AD5-F97D-4C5D-A0AA-0505406DD27E}" type="pres">
      <dgm:prSet presAssocID="{AE785D92-D4A8-4048-B424-C04B0C1C0815}" presName="sibTransNodeCircle" presStyleLbl="alignNode1" presStyleIdx="0" presStyleCnt="5">
        <dgm:presLayoutVars>
          <dgm:chMax val="0"/>
          <dgm:bulletEnabled/>
        </dgm:presLayoutVars>
      </dgm:prSet>
      <dgm:spPr/>
    </dgm:pt>
    <dgm:pt modelId="{02CAE637-1B54-4E2C-BB5C-46AC85440FB6}" type="pres">
      <dgm:prSet presAssocID="{AE785D92-D4A8-4048-B424-C04B0C1C0815}" presName="spacerBetweenCircleAndCallout" presStyleCnt="0">
        <dgm:presLayoutVars/>
      </dgm:prSet>
      <dgm:spPr/>
    </dgm:pt>
    <dgm:pt modelId="{2E02AB91-DB09-4552-9C47-69856668D3E1}" type="pres">
      <dgm:prSet presAssocID="{4D1F3F6D-80A2-41E3-8DCC-2398DD7EEF1A}" presName="nodeText" presStyleLbl="alignAccFollowNode1" presStyleIdx="2" presStyleCnt="15">
        <dgm:presLayoutVars>
          <dgm:bulletEnabled val="1"/>
        </dgm:presLayoutVars>
      </dgm:prSet>
      <dgm:spPr/>
    </dgm:pt>
    <dgm:pt modelId="{292AD2B2-BDAD-426D-9DFD-4BF235E29607}" type="pres">
      <dgm:prSet presAssocID="{AE785D92-D4A8-4048-B424-C04B0C1C0815}" presName="sibTransComposite" presStyleCnt="0"/>
      <dgm:spPr/>
    </dgm:pt>
    <dgm:pt modelId="{821A3EBC-83F0-409A-8CBC-65BE0062E76F}" type="pres">
      <dgm:prSet presAssocID="{6BC7469B-FFA9-4442-9EEC-160E63F189BC}" presName="compositeNode" presStyleCnt="0"/>
      <dgm:spPr/>
    </dgm:pt>
    <dgm:pt modelId="{54326834-4E9A-438F-B620-740CA156825F}" type="pres">
      <dgm:prSet presAssocID="{6BC7469B-FFA9-4442-9EEC-160E63F189BC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D7021F52-534E-472D-BA8C-C230C8C88D47}" type="pres">
      <dgm:prSet presAssocID="{6BC7469B-FFA9-4442-9EEC-160E63F189BC}" presName="parSh" presStyleCnt="0"/>
      <dgm:spPr/>
    </dgm:pt>
    <dgm:pt modelId="{0639C534-851A-45DB-A0D6-749F8D0957ED}" type="pres">
      <dgm:prSet presAssocID="{6BC7469B-FFA9-4442-9EEC-160E63F189BC}" presName="lineNode" presStyleLbl="alignAccFollowNode1" presStyleIdx="3" presStyleCnt="15"/>
      <dgm:spPr/>
    </dgm:pt>
    <dgm:pt modelId="{8B0EDF1C-FD4D-4BA9-B6A7-EBC4F0AF18DE}" type="pres">
      <dgm:prSet presAssocID="{6BC7469B-FFA9-4442-9EEC-160E63F189BC}" presName="lineArrowNode" presStyleLbl="alignAccFollowNode1" presStyleIdx="4" presStyleCnt="15"/>
      <dgm:spPr/>
    </dgm:pt>
    <dgm:pt modelId="{AFF7BADB-3FBF-4076-98C3-F87102986CBC}" type="pres">
      <dgm:prSet presAssocID="{402A4FE0-F813-4D6D-B18F-ACF0D01BC976}" presName="sibTransNodeCircle" presStyleLbl="alignNode1" presStyleIdx="1" presStyleCnt="5">
        <dgm:presLayoutVars>
          <dgm:chMax val="0"/>
          <dgm:bulletEnabled/>
        </dgm:presLayoutVars>
      </dgm:prSet>
      <dgm:spPr/>
    </dgm:pt>
    <dgm:pt modelId="{D43BC5EF-8654-43B2-9530-2C3ADDA53E2F}" type="pres">
      <dgm:prSet presAssocID="{402A4FE0-F813-4D6D-B18F-ACF0D01BC976}" presName="spacerBetweenCircleAndCallout" presStyleCnt="0">
        <dgm:presLayoutVars/>
      </dgm:prSet>
      <dgm:spPr/>
    </dgm:pt>
    <dgm:pt modelId="{E9F379FB-40D7-4F9E-9602-7DFDA13A0BBB}" type="pres">
      <dgm:prSet presAssocID="{6BC7469B-FFA9-4442-9EEC-160E63F189BC}" presName="nodeText" presStyleLbl="alignAccFollowNode1" presStyleIdx="5" presStyleCnt="15">
        <dgm:presLayoutVars>
          <dgm:bulletEnabled val="1"/>
        </dgm:presLayoutVars>
      </dgm:prSet>
      <dgm:spPr/>
    </dgm:pt>
    <dgm:pt modelId="{A0CCF192-716C-4630-B8C1-E3A0657C0F92}" type="pres">
      <dgm:prSet presAssocID="{402A4FE0-F813-4D6D-B18F-ACF0D01BC976}" presName="sibTransComposite" presStyleCnt="0"/>
      <dgm:spPr/>
    </dgm:pt>
    <dgm:pt modelId="{60944AC6-78B0-4E44-8D6D-BC5F42064670}" type="pres">
      <dgm:prSet presAssocID="{8757D8B7-242B-4593-ACDE-C67F4711ED9F}" presName="compositeNode" presStyleCnt="0"/>
      <dgm:spPr/>
    </dgm:pt>
    <dgm:pt modelId="{0159EFFF-F97E-4C96-BF8C-66171DDE0C86}" type="pres">
      <dgm:prSet presAssocID="{8757D8B7-242B-4593-ACDE-C67F4711ED9F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FF8554C2-3769-42C4-82BF-FF3139D3DD76}" type="pres">
      <dgm:prSet presAssocID="{8757D8B7-242B-4593-ACDE-C67F4711ED9F}" presName="parSh" presStyleCnt="0"/>
      <dgm:spPr/>
    </dgm:pt>
    <dgm:pt modelId="{C877B7C0-E666-475C-BD5C-FD299FEF234B}" type="pres">
      <dgm:prSet presAssocID="{8757D8B7-242B-4593-ACDE-C67F4711ED9F}" presName="lineNode" presStyleLbl="alignAccFollowNode1" presStyleIdx="6" presStyleCnt="15"/>
      <dgm:spPr/>
    </dgm:pt>
    <dgm:pt modelId="{1D3E540E-1054-405C-98BA-395B55E21B55}" type="pres">
      <dgm:prSet presAssocID="{8757D8B7-242B-4593-ACDE-C67F4711ED9F}" presName="lineArrowNode" presStyleLbl="alignAccFollowNode1" presStyleIdx="7" presStyleCnt="15"/>
      <dgm:spPr/>
    </dgm:pt>
    <dgm:pt modelId="{5C5D5F56-5510-4207-B4B5-D36B002CC75D}" type="pres">
      <dgm:prSet presAssocID="{0B574C9B-8FCC-4132-9CFE-1ACA5994B27A}" presName="sibTransNodeCircle" presStyleLbl="alignNode1" presStyleIdx="2" presStyleCnt="5">
        <dgm:presLayoutVars>
          <dgm:chMax val="0"/>
          <dgm:bulletEnabled/>
        </dgm:presLayoutVars>
      </dgm:prSet>
      <dgm:spPr/>
    </dgm:pt>
    <dgm:pt modelId="{4CB59E17-C97D-406B-86BC-97174E5C3D27}" type="pres">
      <dgm:prSet presAssocID="{0B574C9B-8FCC-4132-9CFE-1ACA5994B27A}" presName="spacerBetweenCircleAndCallout" presStyleCnt="0">
        <dgm:presLayoutVars/>
      </dgm:prSet>
      <dgm:spPr/>
    </dgm:pt>
    <dgm:pt modelId="{494FE93D-0F42-4013-B594-60E49FF00F81}" type="pres">
      <dgm:prSet presAssocID="{8757D8B7-242B-4593-ACDE-C67F4711ED9F}" presName="nodeText" presStyleLbl="alignAccFollowNode1" presStyleIdx="8" presStyleCnt="15">
        <dgm:presLayoutVars>
          <dgm:bulletEnabled val="1"/>
        </dgm:presLayoutVars>
      </dgm:prSet>
      <dgm:spPr/>
    </dgm:pt>
    <dgm:pt modelId="{30022859-0794-42F7-A9A3-12F0D6D79C21}" type="pres">
      <dgm:prSet presAssocID="{0B574C9B-8FCC-4132-9CFE-1ACA5994B27A}" presName="sibTransComposite" presStyleCnt="0"/>
      <dgm:spPr/>
    </dgm:pt>
    <dgm:pt modelId="{89943119-7E09-42AD-99DB-D7C5F4E81044}" type="pres">
      <dgm:prSet presAssocID="{22F8D26F-B9A3-493C-AFFD-797C6C6B3E2C}" presName="compositeNode" presStyleCnt="0"/>
      <dgm:spPr/>
    </dgm:pt>
    <dgm:pt modelId="{7AC3F108-E86A-40A9-96E8-2ED704C3A187}" type="pres">
      <dgm:prSet presAssocID="{22F8D26F-B9A3-493C-AFFD-797C6C6B3E2C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B2A58DEC-BDB1-4039-B8B3-0496F0129D7A}" type="pres">
      <dgm:prSet presAssocID="{22F8D26F-B9A3-493C-AFFD-797C6C6B3E2C}" presName="parSh" presStyleCnt="0"/>
      <dgm:spPr/>
    </dgm:pt>
    <dgm:pt modelId="{A9EB01B1-7D0A-45E4-9036-B3EC6A6F8D2A}" type="pres">
      <dgm:prSet presAssocID="{22F8D26F-B9A3-493C-AFFD-797C6C6B3E2C}" presName="lineNode" presStyleLbl="alignAccFollowNode1" presStyleIdx="9" presStyleCnt="15"/>
      <dgm:spPr/>
    </dgm:pt>
    <dgm:pt modelId="{C1C0150F-B9F7-45BB-A564-7968382AB2D4}" type="pres">
      <dgm:prSet presAssocID="{22F8D26F-B9A3-493C-AFFD-797C6C6B3E2C}" presName="lineArrowNode" presStyleLbl="alignAccFollowNode1" presStyleIdx="10" presStyleCnt="15"/>
      <dgm:spPr/>
    </dgm:pt>
    <dgm:pt modelId="{D10A06B2-D9E8-4994-8570-157300A07E33}" type="pres">
      <dgm:prSet presAssocID="{946A3295-AAF6-4548-A9E5-5A5DA7BA9673}" presName="sibTransNodeCircle" presStyleLbl="alignNode1" presStyleIdx="3" presStyleCnt="5">
        <dgm:presLayoutVars>
          <dgm:chMax val="0"/>
          <dgm:bulletEnabled/>
        </dgm:presLayoutVars>
      </dgm:prSet>
      <dgm:spPr/>
    </dgm:pt>
    <dgm:pt modelId="{E4B18E29-F3CD-4C35-86A3-162A3CCCA7E2}" type="pres">
      <dgm:prSet presAssocID="{946A3295-AAF6-4548-A9E5-5A5DA7BA9673}" presName="spacerBetweenCircleAndCallout" presStyleCnt="0">
        <dgm:presLayoutVars/>
      </dgm:prSet>
      <dgm:spPr/>
    </dgm:pt>
    <dgm:pt modelId="{53A50E51-D599-4D98-A120-BA97AE7856D3}" type="pres">
      <dgm:prSet presAssocID="{22F8D26F-B9A3-493C-AFFD-797C6C6B3E2C}" presName="nodeText" presStyleLbl="alignAccFollowNode1" presStyleIdx="11" presStyleCnt="15">
        <dgm:presLayoutVars>
          <dgm:bulletEnabled val="1"/>
        </dgm:presLayoutVars>
      </dgm:prSet>
      <dgm:spPr/>
    </dgm:pt>
    <dgm:pt modelId="{C16C3D75-2A1C-4778-BA65-5D7147E6D338}" type="pres">
      <dgm:prSet presAssocID="{946A3295-AAF6-4548-A9E5-5A5DA7BA9673}" presName="sibTransComposite" presStyleCnt="0"/>
      <dgm:spPr/>
    </dgm:pt>
    <dgm:pt modelId="{378890FE-4217-4D9E-96A1-34D7A5AE45A9}" type="pres">
      <dgm:prSet presAssocID="{2CCCF262-3999-42E5-9553-4171FA1F9F8D}" presName="compositeNode" presStyleCnt="0"/>
      <dgm:spPr/>
    </dgm:pt>
    <dgm:pt modelId="{0AA3F50C-0D00-4F98-AAD1-DE1B26634B91}" type="pres">
      <dgm:prSet presAssocID="{2CCCF262-3999-42E5-9553-4171FA1F9F8D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19695A03-27E1-46E3-80A2-045C8C528DEA}" type="pres">
      <dgm:prSet presAssocID="{2CCCF262-3999-42E5-9553-4171FA1F9F8D}" presName="parSh" presStyleCnt="0"/>
      <dgm:spPr/>
    </dgm:pt>
    <dgm:pt modelId="{7F3A6A40-0F24-42FD-8179-54737CB24DF9}" type="pres">
      <dgm:prSet presAssocID="{2CCCF262-3999-42E5-9553-4171FA1F9F8D}" presName="lineNode" presStyleLbl="alignAccFollowNode1" presStyleIdx="12" presStyleCnt="15"/>
      <dgm:spPr/>
    </dgm:pt>
    <dgm:pt modelId="{0FB202F8-7A88-4909-A450-0928A2CA68B1}" type="pres">
      <dgm:prSet presAssocID="{2CCCF262-3999-42E5-9553-4171FA1F9F8D}" presName="lineArrowNode" presStyleLbl="alignAccFollowNode1" presStyleIdx="13" presStyleCnt="15"/>
      <dgm:spPr/>
    </dgm:pt>
    <dgm:pt modelId="{8951A61A-9B71-4115-8BBE-3F4371CD4DA5}" type="pres">
      <dgm:prSet presAssocID="{F1E21F01-011C-4E85-9958-9940BBB87DF2}" presName="sibTransNodeCircle" presStyleLbl="alignNode1" presStyleIdx="4" presStyleCnt="5">
        <dgm:presLayoutVars>
          <dgm:chMax val="0"/>
          <dgm:bulletEnabled/>
        </dgm:presLayoutVars>
      </dgm:prSet>
      <dgm:spPr/>
    </dgm:pt>
    <dgm:pt modelId="{3030ECD3-1780-4DEA-B8D1-F1803C7B8D70}" type="pres">
      <dgm:prSet presAssocID="{F1E21F01-011C-4E85-9958-9940BBB87DF2}" presName="spacerBetweenCircleAndCallout" presStyleCnt="0">
        <dgm:presLayoutVars/>
      </dgm:prSet>
      <dgm:spPr/>
    </dgm:pt>
    <dgm:pt modelId="{62AB3804-74E0-4E94-A556-DCB07D0BB238}" type="pres">
      <dgm:prSet presAssocID="{2CCCF262-3999-42E5-9553-4171FA1F9F8D}" presName="nodeText" presStyleLbl="alignAccFollowNode1" presStyleIdx="14" presStyleCnt="15">
        <dgm:presLayoutVars>
          <dgm:bulletEnabled val="1"/>
        </dgm:presLayoutVars>
      </dgm:prSet>
      <dgm:spPr/>
    </dgm:pt>
  </dgm:ptLst>
  <dgm:cxnLst>
    <dgm:cxn modelId="{7313760B-27C8-446E-A4EB-155FC04002EA}" srcId="{381149E9-14E1-4A26-906D-C2E823AD4601}" destId="{8757D8B7-242B-4593-ACDE-C67F4711ED9F}" srcOrd="2" destOrd="0" parTransId="{AA631FE1-6C37-47A1-8044-DC7257649031}" sibTransId="{0B574C9B-8FCC-4132-9CFE-1ACA5994B27A}"/>
    <dgm:cxn modelId="{DE9B4D32-A2AA-459A-8A2C-C4CCFA51A670}" srcId="{381149E9-14E1-4A26-906D-C2E823AD4601}" destId="{4D1F3F6D-80A2-41E3-8DCC-2398DD7EEF1A}" srcOrd="0" destOrd="0" parTransId="{59667B5D-27A1-4A9F-A59B-80D78CB0A4B4}" sibTransId="{AE785D92-D4A8-4048-B424-C04B0C1C0815}"/>
    <dgm:cxn modelId="{DC19D95B-FFC6-4617-A79E-708B5D147248}" type="presOf" srcId="{402A4FE0-F813-4D6D-B18F-ACF0D01BC976}" destId="{AFF7BADB-3FBF-4076-98C3-F87102986CBC}" srcOrd="0" destOrd="0" presId="urn:microsoft.com/office/officeart/2016/7/layout/LinearArrowProcessNumbered"/>
    <dgm:cxn modelId="{85CBB160-629F-4D2C-9137-E4E9FC530C3C}" type="presOf" srcId="{F1E21F01-011C-4E85-9958-9940BBB87DF2}" destId="{8951A61A-9B71-4115-8BBE-3F4371CD4DA5}" srcOrd="0" destOrd="0" presId="urn:microsoft.com/office/officeart/2016/7/layout/LinearArrowProcessNumbered"/>
    <dgm:cxn modelId="{BB1F0565-E434-49D4-A34B-EF2CA6AB33F2}" srcId="{381149E9-14E1-4A26-906D-C2E823AD4601}" destId="{2CCCF262-3999-42E5-9553-4171FA1F9F8D}" srcOrd="4" destOrd="0" parTransId="{BDC02488-7322-476A-848F-DDA2064C987B}" sibTransId="{F1E21F01-011C-4E85-9958-9940BBB87DF2}"/>
    <dgm:cxn modelId="{4BEE7A65-57F0-4AEC-8F8C-BE9D26BFDCB6}" type="presOf" srcId="{22F8D26F-B9A3-493C-AFFD-797C6C6B3E2C}" destId="{53A50E51-D599-4D98-A120-BA97AE7856D3}" srcOrd="0" destOrd="0" presId="urn:microsoft.com/office/officeart/2016/7/layout/LinearArrowProcessNumbered"/>
    <dgm:cxn modelId="{615CC547-A4D9-43F5-97E9-0E991BA2B2B0}" srcId="{381149E9-14E1-4A26-906D-C2E823AD4601}" destId="{6BC7469B-FFA9-4442-9EEC-160E63F189BC}" srcOrd="1" destOrd="0" parTransId="{5E46C751-DABE-45C6-8188-71E30AC4236D}" sibTransId="{402A4FE0-F813-4D6D-B18F-ACF0D01BC976}"/>
    <dgm:cxn modelId="{0519B15A-BFD2-4B46-AA33-47B891693106}" type="presOf" srcId="{8757D8B7-242B-4593-ACDE-C67F4711ED9F}" destId="{494FE93D-0F42-4013-B594-60E49FF00F81}" srcOrd="0" destOrd="0" presId="urn:microsoft.com/office/officeart/2016/7/layout/LinearArrowProcessNumbered"/>
    <dgm:cxn modelId="{9892847E-965E-410E-A0D7-8A520EB0DDA5}" type="presOf" srcId="{946A3295-AAF6-4548-A9E5-5A5DA7BA9673}" destId="{D10A06B2-D9E8-4994-8570-157300A07E33}" srcOrd="0" destOrd="0" presId="urn:microsoft.com/office/officeart/2016/7/layout/LinearArrowProcessNumbered"/>
    <dgm:cxn modelId="{5D91D481-99DA-4BF8-940A-D6363223CA82}" type="presOf" srcId="{4D1F3F6D-80A2-41E3-8DCC-2398DD7EEF1A}" destId="{2E02AB91-DB09-4552-9C47-69856668D3E1}" srcOrd="0" destOrd="0" presId="urn:microsoft.com/office/officeart/2016/7/layout/LinearArrowProcessNumbered"/>
    <dgm:cxn modelId="{85DBB688-277D-48CA-B3C3-64F6A0294B6C}" srcId="{381149E9-14E1-4A26-906D-C2E823AD4601}" destId="{22F8D26F-B9A3-493C-AFFD-797C6C6B3E2C}" srcOrd="3" destOrd="0" parTransId="{D544863E-DD2A-4B13-BDAC-E8DBD345750A}" sibTransId="{946A3295-AAF6-4548-A9E5-5A5DA7BA9673}"/>
    <dgm:cxn modelId="{F0A4869B-31FB-4206-80FC-381C16B49E93}" type="presOf" srcId="{0B574C9B-8FCC-4132-9CFE-1ACA5994B27A}" destId="{5C5D5F56-5510-4207-B4B5-D36B002CC75D}" srcOrd="0" destOrd="0" presId="urn:microsoft.com/office/officeart/2016/7/layout/LinearArrowProcessNumbered"/>
    <dgm:cxn modelId="{982937A4-CC18-42C9-BAA2-73D67380D2E2}" type="presOf" srcId="{6BC7469B-FFA9-4442-9EEC-160E63F189BC}" destId="{E9F379FB-40D7-4F9E-9602-7DFDA13A0BBB}" srcOrd="0" destOrd="0" presId="urn:microsoft.com/office/officeart/2016/7/layout/LinearArrowProcessNumbered"/>
    <dgm:cxn modelId="{423D04AB-8610-418C-85A4-4A8409147B70}" type="presOf" srcId="{AE785D92-D4A8-4048-B424-C04B0C1C0815}" destId="{59D52AD5-F97D-4C5D-A0AA-0505406DD27E}" srcOrd="0" destOrd="0" presId="urn:microsoft.com/office/officeart/2016/7/layout/LinearArrowProcessNumbered"/>
    <dgm:cxn modelId="{5CE11FF1-EB4A-4973-952A-5D4328C1796C}" type="presOf" srcId="{381149E9-14E1-4A26-906D-C2E823AD4601}" destId="{CD9FACE4-6338-4373-9FD7-A198A7C2FB31}" srcOrd="0" destOrd="0" presId="urn:microsoft.com/office/officeart/2016/7/layout/LinearArrowProcessNumbered"/>
    <dgm:cxn modelId="{C1188EF1-8589-4996-BCB9-2148000F5AD1}" type="presOf" srcId="{2CCCF262-3999-42E5-9553-4171FA1F9F8D}" destId="{62AB3804-74E0-4E94-A556-DCB07D0BB238}" srcOrd="0" destOrd="0" presId="urn:microsoft.com/office/officeart/2016/7/layout/LinearArrowProcessNumbered"/>
    <dgm:cxn modelId="{0C8B80FB-3752-4DC2-8AD1-786AFC1F5FD8}" type="presParOf" srcId="{CD9FACE4-6338-4373-9FD7-A198A7C2FB31}" destId="{2760A695-1AD5-46DB-B63A-7CF0C5E5E73B}" srcOrd="0" destOrd="0" presId="urn:microsoft.com/office/officeart/2016/7/layout/LinearArrowProcessNumbered"/>
    <dgm:cxn modelId="{8EBA3D96-5884-4EDF-81E5-A672A4B9BC02}" type="presParOf" srcId="{2760A695-1AD5-46DB-B63A-7CF0C5E5E73B}" destId="{E6ABBD1C-C11A-4D7E-BE5E-5D817152BF47}" srcOrd="0" destOrd="0" presId="urn:microsoft.com/office/officeart/2016/7/layout/LinearArrowProcessNumbered"/>
    <dgm:cxn modelId="{58721C93-F7C0-4527-8F86-061CC876E02C}" type="presParOf" srcId="{2760A695-1AD5-46DB-B63A-7CF0C5E5E73B}" destId="{98034EA5-88F5-400C-836F-6ACCE6462383}" srcOrd="1" destOrd="0" presId="urn:microsoft.com/office/officeart/2016/7/layout/LinearArrowProcessNumbered"/>
    <dgm:cxn modelId="{6667E173-A4AF-49D3-83E3-703CBE6876EB}" type="presParOf" srcId="{98034EA5-88F5-400C-836F-6ACCE6462383}" destId="{84404930-8256-47D4-AC8B-E2D9CB3D4B87}" srcOrd="0" destOrd="0" presId="urn:microsoft.com/office/officeart/2016/7/layout/LinearArrowProcessNumbered"/>
    <dgm:cxn modelId="{3B5F6F28-1F88-476B-8BD8-C7558513FE9F}" type="presParOf" srcId="{98034EA5-88F5-400C-836F-6ACCE6462383}" destId="{2E070E90-C9FF-49B3-8B98-138718980BE2}" srcOrd="1" destOrd="0" presId="urn:microsoft.com/office/officeart/2016/7/layout/LinearArrowProcessNumbered"/>
    <dgm:cxn modelId="{76272C18-671C-419C-BCBB-BE703C9CB90E}" type="presParOf" srcId="{98034EA5-88F5-400C-836F-6ACCE6462383}" destId="{59D52AD5-F97D-4C5D-A0AA-0505406DD27E}" srcOrd="2" destOrd="0" presId="urn:microsoft.com/office/officeart/2016/7/layout/LinearArrowProcessNumbered"/>
    <dgm:cxn modelId="{5FE6EF66-0819-4AB5-8E86-EEA9E937049E}" type="presParOf" srcId="{98034EA5-88F5-400C-836F-6ACCE6462383}" destId="{02CAE637-1B54-4E2C-BB5C-46AC85440FB6}" srcOrd="3" destOrd="0" presId="urn:microsoft.com/office/officeart/2016/7/layout/LinearArrowProcessNumbered"/>
    <dgm:cxn modelId="{D5A770D2-03FA-4225-919C-3E9B18E11D15}" type="presParOf" srcId="{2760A695-1AD5-46DB-B63A-7CF0C5E5E73B}" destId="{2E02AB91-DB09-4552-9C47-69856668D3E1}" srcOrd="2" destOrd="0" presId="urn:microsoft.com/office/officeart/2016/7/layout/LinearArrowProcessNumbered"/>
    <dgm:cxn modelId="{A4A4A34F-1428-4DA6-96CE-B2FE1D909EA8}" type="presParOf" srcId="{CD9FACE4-6338-4373-9FD7-A198A7C2FB31}" destId="{292AD2B2-BDAD-426D-9DFD-4BF235E29607}" srcOrd="1" destOrd="0" presId="urn:microsoft.com/office/officeart/2016/7/layout/LinearArrowProcessNumbered"/>
    <dgm:cxn modelId="{0D0B0099-A401-4D58-A915-03C9BD144894}" type="presParOf" srcId="{CD9FACE4-6338-4373-9FD7-A198A7C2FB31}" destId="{821A3EBC-83F0-409A-8CBC-65BE0062E76F}" srcOrd="2" destOrd="0" presId="urn:microsoft.com/office/officeart/2016/7/layout/LinearArrowProcessNumbered"/>
    <dgm:cxn modelId="{D627FB90-7CC0-4BF7-9C0A-8CB41B753943}" type="presParOf" srcId="{821A3EBC-83F0-409A-8CBC-65BE0062E76F}" destId="{54326834-4E9A-438F-B620-740CA156825F}" srcOrd="0" destOrd="0" presId="urn:microsoft.com/office/officeart/2016/7/layout/LinearArrowProcessNumbered"/>
    <dgm:cxn modelId="{C04F8D88-1CBB-453C-928A-A4F4F3B8DAD1}" type="presParOf" srcId="{821A3EBC-83F0-409A-8CBC-65BE0062E76F}" destId="{D7021F52-534E-472D-BA8C-C230C8C88D47}" srcOrd="1" destOrd="0" presId="urn:microsoft.com/office/officeart/2016/7/layout/LinearArrowProcessNumbered"/>
    <dgm:cxn modelId="{11A929F0-68A8-4A0D-A6B5-CA239026AC43}" type="presParOf" srcId="{D7021F52-534E-472D-BA8C-C230C8C88D47}" destId="{0639C534-851A-45DB-A0D6-749F8D0957ED}" srcOrd="0" destOrd="0" presId="urn:microsoft.com/office/officeart/2016/7/layout/LinearArrowProcessNumbered"/>
    <dgm:cxn modelId="{98F9350E-A7C8-43C8-943E-6F2765228750}" type="presParOf" srcId="{D7021F52-534E-472D-BA8C-C230C8C88D47}" destId="{8B0EDF1C-FD4D-4BA9-B6A7-EBC4F0AF18DE}" srcOrd="1" destOrd="0" presId="urn:microsoft.com/office/officeart/2016/7/layout/LinearArrowProcessNumbered"/>
    <dgm:cxn modelId="{32CA4354-C69A-401B-9D64-3D8033E1BD8D}" type="presParOf" srcId="{D7021F52-534E-472D-BA8C-C230C8C88D47}" destId="{AFF7BADB-3FBF-4076-98C3-F87102986CBC}" srcOrd="2" destOrd="0" presId="urn:microsoft.com/office/officeart/2016/7/layout/LinearArrowProcessNumbered"/>
    <dgm:cxn modelId="{15A3B2E0-9C1C-4B0F-813C-1C73D687B3C5}" type="presParOf" srcId="{D7021F52-534E-472D-BA8C-C230C8C88D47}" destId="{D43BC5EF-8654-43B2-9530-2C3ADDA53E2F}" srcOrd="3" destOrd="0" presId="urn:microsoft.com/office/officeart/2016/7/layout/LinearArrowProcessNumbered"/>
    <dgm:cxn modelId="{304A595A-B04A-4FCD-9B6B-F36047E9C141}" type="presParOf" srcId="{821A3EBC-83F0-409A-8CBC-65BE0062E76F}" destId="{E9F379FB-40D7-4F9E-9602-7DFDA13A0BBB}" srcOrd="2" destOrd="0" presId="urn:microsoft.com/office/officeart/2016/7/layout/LinearArrowProcessNumbered"/>
    <dgm:cxn modelId="{C5F473E5-41DC-4069-A4B6-523EB6C03C97}" type="presParOf" srcId="{CD9FACE4-6338-4373-9FD7-A198A7C2FB31}" destId="{A0CCF192-716C-4630-B8C1-E3A0657C0F92}" srcOrd="3" destOrd="0" presId="urn:microsoft.com/office/officeart/2016/7/layout/LinearArrowProcessNumbered"/>
    <dgm:cxn modelId="{1B93B973-06DC-48B4-A934-58E77858F40E}" type="presParOf" srcId="{CD9FACE4-6338-4373-9FD7-A198A7C2FB31}" destId="{60944AC6-78B0-4E44-8D6D-BC5F42064670}" srcOrd="4" destOrd="0" presId="urn:microsoft.com/office/officeart/2016/7/layout/LinearArrowProcessNumbered"/>
    <dgm:cxn modelId="{2E281429-495C-4606-A5E9-7CB86519E4F9}" type="presParOf" srcId="{60944AC6-78B0-4E44-8D6D-BC5F42064670}" destId="{0159EFFF-F97E-4C96-BF8C-66171DDE0C86}" srcOrd="0" destOrd="0" presId="urn:microsoft.com/office/officeart/2016/7/layout/LinearArrowProcessNumbered"/>
    <dgm:cxn modelId="{F3D17F6F-FF33-4463-BDB7-2FC1FE479259}" type="presParOf" srcId="{60944AC6-78B0-4E44-8D6D-BC5F42064670}" destId="{FF8554C2-3769-42C4-82BF-FF3139D3DD76}" srcOrd="1" destOrd="0" presId="urn:microsoft.com/office/officeart/2016/7/layout/LinearArrowProcessNumbered"/>
    <dgm:cxn modelId="{20BB257E-B5A4-4E6A-A3EC-05DAA648C1AA}" type="presParOf" srcId="{FF8554C2-3769-42C4-82BF-FF3139D3DD76}" destId="{C877B7C0-E666-475C-BD5C-FD299FEF234B}" srcOrd="0" destOrd="0" presId="urn:microsoft.com/office/officeart/2016/7/layout/LinearArrowProcessNumbered"/>
    <dgm:cxn modelId="{B0799D83-3309-42F2-9C20-985CAD27FE3B}" type="presParOf" srcId="{FF8554C2-3769-42C4-82BF-FF3139D3DD76}" destId="{1D3E540E-1054-405C-98BA-395B55E21B55}" srcOrd="1" destOrd="0" presId="urn:microsoft.com/office/officeart/2016/7/layout/LinearArrowProcessNumbered"/>
    <dgm:cxn modelId="{856588E0-D8DB-480D-BE1A-E4FE0D6FB054}" type="presParOf" srcId="{FF8554C2-3769-42C4-82BF-FF3139D3DD76}" destId="{5C5D5F56-5510-4207-B4B5-D36B002CC75D}" srcOrd="2" destOrd="0" presId="urn:microsoft.com/office/officeart/2016/7/layout/LinearArrowProcessNumbered"/>
    <dgm:cxn modelId="{7CA77211-6AB7-4504-A420-556F109F86CD}" type="presParOf" srcId="{FF8554C2-3769-42C4-82BF-FF3139D3DD76}" destId="{4CB59E17-C97D-406B-86BC-97174E5C3D27}" srcOrd="3" destOrd="0" presId="urn:microsoft.com/office/officeart/2016/7/layout/LinearArrowProcessNumbered"/>
    <dgm:cxn modelId="{A508D4C6-DA5A-4ACA-839E-B3E4CE139FB2}" type="presParOf" srcId="{60944AC6-78B0-4E44-8D6D-BC5F42064670}" destId="{494FE93D-0F42-4013-B594-60E49FF00F81}" srcOrd="2" destOrd="0" presId="urn:microsoft.com/office/officeart/2016/7/layout/LinearArrowProcessNumbered"/>
    <dgm:cxn modelId="{A512C224-9262-4D1F-A94F-0C507CAA1D30}" type="presParOf" srcId="{CD9FACE4-6338-4373-9FD7-A198A7C2FB31}" destId="{30022859-0794-42F7-A9A3-12F0D6D79C21}" srcOrd="5" destOrd="0" presId="urn:microsoft.com/office/officeart/2016/7/layout/LinearArrowProcessNumbered"/>
    <dgm:cxn modelId="{C203ABDD-58A5-4B19-B850-7B30C561F67E}" type="presParOf" srcId="{CD9FACE4-6338-4373-9FD7-A198A7C2FB31}" destId="{89943119-7E09-42AD-99DB-D7C5F4E81044}" srcOrd="6" destOrd="0" presId="urn:microsoft.com/office/officeart/2016/7/layout/LinearArrowProcessNumbered"/>
    <dgm:cxn modelId="{F3469DED-0C84-41D0-86CE-44FB0BB82094}" type="presParOf" srcId="{89943119-7E09-42AD-99DB-D7C5F4E81044}" destId="{7AC3F108-E86A-40A9-96E8-2ED704C3A187}" srcOrd="0" destOrd="0" presId="urn:microsoft.com/office/officeart/2016/7/layout/LinearArrowProcessNumbered"/>
    <dgm:cxn modelId="{60275D9D-CBDC-43E1-A154-A4911B0ACC65}" type="presParOf" srcId="{89943119-7E09-42AD-99DB-D7C5F4E81044}" destId="{B2A58DEC-BDB1-4039-B8B3-0496F0129D7A}" srcOrd="1" destOrd="0" presId="urn:microsoft.com/office/officeart/2016/7/layout/LinearArrowProcessNumbered"/>
    <dgm:cxn modelId="{CB6FC2EA-A657-452C-9F61-AE065F9F211B}" type="presParOf" srcId="{B2A58DEC-BDB1-4039-B8B3-0496F0129D7A}" destId="{A9EB01B1-7D0A-45E4-9036-B3EC6A6F8D2A}" srcOrd="0" destOrd="0" presId="urn:microsoft.com/office/officeart/2016/7/layout/LinearArrowProcessNumbered"/>
    <dgm:cxn modelId="{F6F90E40-9612-4050-80CF-1C789D41BA1D}" type="presParOf" srcId="{B2A58DEC-BDB1-4039-B8B3-0496F0129D7A}" destId="{C1C0150F-B9F7-45BB-A564-7968382AB2D4}" srcOrd="1" destOrd="0" presId="urn:microsoft.com/office/officeart/2016/7/layout/LinearArrowProcessNumbered"/>
    <dgm:cxn modelId="{817155A5-EF7A-459C-B61A-96E8F9B27CF3}" type="presParOf" srcId="{B2A58DEC-BDB1-4039-B8B3-0496F0129D7A}" destId="{D10A06B2-D9E8-4994-8570-157300A07E33}" srcOrd="2" destOrd="0" presId="urn:microsoft.com/office/officeart/2016/7/layout/LinearArrowProcessNumbered"/>
    <dgm:cxn modelId="{4DDF5FEA-F7A0-40E9-A0A3-DA70A98B63E2}" type="presParOf" srcId="{B2A58DEC-BDB1-4039-B8B3-0496F0129D7A}" destId="{E4B18E29-F3CD-4C35-86A3-162A3CCCA7E2}" srcOrd="3" destOrd="0" presId="urn:microsoft.com/office/officeart/2016/7/layout/LinearArrowProcessNumbered"/>
    <dgm:cxn modelId="{93560D82-513D-4404-B6F5-CDBB7F5A02FF}" type="presParOf" srcId="{89943119-7E09-42AD-99DB-D7C5F4E81044}" destId="{53A50E51-D599-4D98-A120-BA97AE7856D3}" srcOrd="2" destOrd="0" presId="urn:microsoft.com/office/officeart/2016/7/layout/LinearArrowProcessNumbered"/>
    <dgm:cxn modelId="{56C41690-282E-45B2-B494-84E87BCF3B12}" type="presParOf" srcId="{CD9FACE4-6338-4373-9FD7-A198A7C2FB31}" destId="{C16C3D75-2A1C-4778-BA65-5D7147E6D338}" srcOrd="7" destOrd="0" presId="urn:microsoft.com/office/officeart/2016/7/layout/LinearArrowProcessNumbered"/>
    <dgm:cxn modelId="{768C4326-D407-42F1-9B2E-544DD1D39B6E}" type="presParOf" srcId="{CD9FACE4-6338-4373-9FD7-A198A7C2FB31}" destId="{378890FE-4217-4D9E-96A1-34D7A5AE45A9}" srcOrd="8" destOrd="0" presId="urn:microsoft.com/office/officeart/2016/7/layout/LinearArrowProcessNumbered"/>
    <dgm:cxn modelId="{D3D9E58C-1A6D-4452-AC75-4CCB77C8EB3D}" type="presParOf" srcId="{378890FE-4217-4D9E-96A1-34D7A5AE45A9}" destId="{0AA3F50C-0D00-4F98-AAD1-DE1B26634B91}" srcOrd="0" destOrd="0" presId="urn:microsoft.com/office/officeart/2016/7/layout/LinearArrowProcessNumbered"/>
    <dgm:cxn modelId="{C506AD76-9E78-441D-8419-BD3F70101C9C}" type="presParOf" srcId="{378890FE-4217-4D9E-96A1-34D7A5AE45A9}" destId="{19695A03-27E1-46E3-80A2-045C8C528DEA}" srcOrd="1" destOrd="0" presId="urn:microsoft.com/office/officeart/2016/7/layout/LinearArrowProcessNumbered"/>
    <dgm:cxn modelId="{88ED80F8-086E-406A-91C3-E20959EFBCE7}" type="presParOf" srcId="{19695A03-27E1-46E3-80A2-045C8C528DEA}" destId="{7F3A6A40-0F24-42FD-8179-54737CB24DF9}" srcOrd="0" destOrd="0" presId="urn:microsoft.com/office/officeart/2016/7/layout/LinearArrowProcessNumbered"/>
    <dgm:cxn modelId="{96BCD4AB-0CEE-40FD-A41D-56866B7A5B3B}" type="presParOf" srcId="{19695A03-27E1-46E3-80A2-045C8C528DEA}" destId="{0FB202F8-7A88-4909-A450-0928A2CA68B1}" srcOrd="1" destOrd="0" presId="urn:microsoft.com/office/officeart/2016/7/layout/LinearArrowProcessNumbered"/>
    <dgm:cxn modelId="{3F6F96AA-009F-4AE1-9B40-2704310E4676}" type="presParOf" srcId="{19695A03-27E1-46E3-80A2-045C8C528DEA}" destId="{8951A61A-9B71-4115-8BBE-3F4371CD4DA5}" srcOrd="2" destOrd="0" presId="urn:microsoft.com/office/officeart/2016/7/layout/LinearArrowProcessNumbered"/>
    <dgm:cxn modelId="{CAB94106-80C8-4976-B568-A9EE484152DA}" type="presParOf" srcId="{19695A03-27E1-46E3-80A2-045C8C528DEA}" destId="{3030ECD3-1780-4DEA-B8D1-F1803C7B8D70}" srcOrd="3" destOrd="0" presId="urn:microsoft.com/office/officeart/2016/7/layout/LinearArrowProcessNumbered"/>
    <dgm:cxn modelId="{CE44C052-7526-4B5D-98E8-E2653052D6E4}" type="presParOf" srcId="{378890FE-4217-4D9E-96A1-34D7A5AE45A9}" destId="{62AB3804-74E0-4E94-A556-DCB07D0BB238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62A5C08-804E-41B3-A4E8-A8E2917D858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5F5F309-BB6C-4523-A691-0465E957E130}">
      <dgm:prSet custT="1"/>
      <dgm:spPr/>
      <dgm:t>
        <a:bodyPr/>
        <a:lstStyle/>
        <a:p>
          <a:r>
            <a:rPr lang="en-US" sz="3200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The Algorithm:</a:t>
          </a:r>
          <a:r>
            <a:rPr lang="en-US" sz="32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Random Forest Classifier (chosen for high handling of non-linear data).</a:t>
          </a:r>
          <a:endParaRPr lang="en-US" sz="3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E48F7A5-A1F1-4A5A-9327-DC6F564A6769}" type="parTrans" cxnId="{6C38AE7A-6A15-4BED-9A2D-9878309D6341}">
      <dgm:prSet/>
      <dgm:spPr/>
      <dgm:t>
        <a:bodyPr/>
        <a:lstStyle/>
        <a:p>
          <a:endParaRPr lang="en-US"/>
        </a:p>
      </dgm:t>
    </dgm:pt>
    <dgm:pt modelId="{68DF462D-A2B4-4A66-AA37-80C23A3F3005}" type="sibTrans" cxnId="{6C38AE7A-6A15-4BED-9A2D-9878309D6341}">
      <dgm:prSet/>
      <dgm:spPr/>
      <dgm:t>
        <a:bodyPr/>
        <a:lstStyle/>
        <a:p>
          <a:endParaRPr lang="en-US"/>
        </a:p>
      </dgm:t>
    </dgm:pt>
    <dgm:pt modelId="{D4FD3826-FD1A-4FC4-AF4B-C3EF05F45A77}">
      <dgm:prSet/>
      <dgm:spPr/>
      <dgm:t>
        <a:bodyPr/>
        <a:lstStyle/>
        <a:p>
          <a:r>
            <a:rPr lang="en-US" b="1" i="0" baseline="0">
              <a:latin typeface="Times New Roman" panose="02020603050405020304" pitchFamily="18" charset="0"/>
              <a:cs typeface="Times New Roman" panose="02020603050405020304" pitchFamily="18" charset="0"/>
            </a:rPr>
            <a:t>Key Performance Indicators (KPIs):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8B52B59-1E15-4CF7-A1B7-330740BE1B7D}" type="parTrans" cxnId="{27AB14BB-C222-4FC7-9711-2AE1C16FB306}">
      <dgm:prSet/>
      <dgm:spPr/>
      <dgm:t>
        <a:bodyPr/>
        <a:lstStyle/>
        <a:p>
          <a:endParaRPr lang="en-US"/>
        </a:p>
      </dgm:t>
    </dgm:pt>
    <dgm:pt modelId="{D1B866F3-9625-46A9-871D-A4AD551AA043}" type="sibTrans" cxnId="{27AB14BB-C222-4FC7-9711-2AE1C16FB306}">
      <dgm:prSet/>
      <dgm:spPr/>
      <dgm:t>
        <a:bodyPr/>
        <a:lstStyle/>
        <a:p>
          <a:endParaRPr lang="en-US"/>
        </a:p>
      </dgm:t>
    </dgm:pt>
    <dgm:pt modelId="{40EAD2D3-3279-425D-8A98-AB70A929BEE9}">
      <dgm:prSet/>
      <dgm:spPr/>
      <dgm:t>
        <a:bodyPr/>
        <a:lstStyle/>
        <a:p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90.1%</a:t>
          </a:r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Standard Accuracy.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9842D1A-A5EB-4905-A0F4-73D3B1FDA991}" type="parTrans" cxnId="{FBC36C40-7AE9-426F-88CB-51D987DF8403}">
      <dgm:prSet/>
      <dgm:spPr/>
      <dgm:t>
        <a:bodyPr/>
        <a:lstStyle/>
        <a:p>
          <a:endParaRPr lang="en-US"/>
        </a:p>
      </dgm:t>
    </dgm:pt>
    <dgm:pt modelId="{D41E1B7E-0B0C-4E8C-8200-04F7C4A17389}" type="sibTrans" cxnId="{FBC36C40-7AE9-426F-88CB-51D987DF8403}">
      <dgm:prSet/>
      <dgm:spPr/>
      <dgm:t>
        <a:bodyPr/>
        <a:lstStyle/>
        <a:p>
          <a:endParaRPr lang="en-US"/>
        </a:p>
      </dgm:t>
    </dgm:pt>
    <dgm:pt modelId="{A5B94561-60B6-458D-AB4A-0725217AC311}">
      <dgm:prSet/>
      <dgm:spPr/>
      <dgm:t>
        <a:bodyPr/>
        <a:lstStyle/>
        <a:p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97% Recall</a:t>
          </a:r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for High-Risk incidents (Priority on sensitivity).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78BFD84-9837-4E1A-B33E-44869CBCAE8B}" type="parTrans" cxnId="{C9E51E64-0406-4F82-96B6-9E3B7DE983B0}">
      <dgm:prSet/>
      <dgm:spPr/>
      <dgm:t>
        <a:bodyPr/>
        <a:lstStyle/>
        <a:p>
          <a:endParaRPr lang="en-US"/>
        </a:p>
      </dgm:t>
    </dgm:pt>
    <dgm:pt modelId="{31327C78-4020-4DD6-A59E-C4A76F1DB6B1}" type="sibTrans" cxnId="{C9E51E64-0406-4F82-96B6-9E3B7DE983B0}">
      <dgm:prSet/>
      <dgm:spPr/>
      <dgm:t>
        <a:bodyPr/>
        <a:lstStyle/>
        <a:p>
          <a:endParaRPr lang="en-US"/>
        </a:p>
      </dgm:t>
    </dgm:pt>
    <dgm:pt modelId="{888DF534-86A7-48B2-917B-A1BA71517169}">
      <dgm:prSet/>
      <dgm:spPr/>
      <dgm:t>
        <a:bodyPr/>
        <a:lstStyle/>
        <a:p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Feature Importance:</a:t>
          </a:r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Identified "Month" and "Department" as the primary drivers of risk at the Fairmont Waterfront.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BC2E756-5F95-42F0-B09F-B1B69533415A}" type="parTrans" cxnId="{C157148C-AEA9-48EE-B231-3F4DC637A251}">
      <dgm:prSet/>
      <dgm:spPr/>
      <dgm:t>
        <a:bodyPr/>
        <a:lstStyle/>
        <a:p>
          <a:endParaRPr lang="en-US"/>
        </a:p>
      </dgm:t>
    </dgm:pt>
    <dgm:pt modelId="{2A901F7E-A7E3-4D26-9512-25644296A4EE}" type="sibTrans" cxnId="{C157148C-AEA9-48EE-B231-3F4DC637A251}">
      <dgm:prSet/>
      <dgm:spPr/>
      <dgm:t>
        <a:bodyPr/>
        <a:lstStyle/>
        <a:p>
          <a:endParaRPr lang="en-US"/>
        </a:p>
      </dgm:t>
    </dgm:pt>
    <dgm:pt modelId="{10934209-873A-4D5F-9A65-5DC9E58C5B55}" type="pres">
      <dgm:prSet presAssocID="{762A5C08-804E-41B3-A4E8-A8E2917D858D}" presName="linear" presStyleCnt="0">
        <dgm:presLayoutVars>
          <dgm:animLvl val="lvl"/>
          <dgm:resizeHandles val="exact"/>
        </dgm:presLayoutVars>
      </dgm:prSet>
      <dgm:spPr/>
    </dgm:pt>
    <dgm:pt modelId="{FA445F80-C444-4D46-83EB-FE207AFA91A4}" type="pres">
      <dgm:prSet presAssocID="{35F5F309-BB6C-4523-A691-0465E957E13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90B5B34-447E-4055-BF27-37D5D571A88C}" type="pres">
      <dgm:prSet presAssocID="{68DF462D-A2B4-4A66-AA37-80C23A3F3005}" presName="spacer" presStyleCnt="0"/>
      <dgm:spPr/>
    </dgm:pt>
    <dgm:pt modelId="{2F6697A0-E4F6-41F7-90BD-56DDADC538BB}" type="pres">
      <dgm:prSet presAssocID="{D4FD3826-FD1A-4FC4-AF4B-C3EF05F45A7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2B40764-257E-48B7-AB15-46F7B52E8D8B}" type="pres">
      <dgm:prSet presAssocID="{D4FD3826-FD1A-4FC4-AF4B-C3EF05F45A77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FBC36C40-7AE9-426F-88CB-51D987DF8403}" srcId="{D4FD3826-FD1A-4FC4-AF4B-C3EF05F45A77}" destId="{40EAD2D3-3279-425D-8A98-AB70A929BEE9}" srcOrd="0" destOrd="0" parTransId="{D9842D1A-A5EB-4905-A0F4-73D3B1FDA991}" sibTransId="{D41E1B7E-0B0C-4E8C-8200-04F7C4A17389}"/>
    <dgm:cxn modelId="{C9E51E64-0406-4F82-96B6-9E3B7DE983B0}" srcId="{D4FD3826-FD1A-4FC4-AF4B-C3EF05F45A77}" destId="{A5B94561-60B6-458D-AB4A-0725217AC311}" srcOrd="1" destOrd="0" parTransId="{478BFD84-9837-4E1A-B33E-44869CBCAE8B}" sibTransId="{31327C78-4020-4DD6-A59E-C4A76F1DB6B1}"/>
    <dgm:cxn modelId="{8B32B646-3295-4B0C-94BD-439E8AE01246}" type="presOf" srcId="{35F5F309-BB6C-4523-A691-0465E957E130}" destId="{FA445F80-C444-4D46-83EB-FE207AFA91A4}" srcOrd="0" destOrd="0" presId="urn:microsoft.com/office/officeart/2005/8/layout/vList2"/>
    <dgm:cxn modelId="{35331858-F1B7-4339-A20C-D44FB00DB5D8}" type="presOf" srcId="{888DF534-86A7-48B2-917B-A1BA71517169}" destId="{E2B40764-257E-48B7-AB15-46F7B52E8D8B}" srcOrd="0" destOrd="2" presId="urn:microsoft.com/office/officeart/2005/8/layout/vList2"/>
    <dgm:cxn modelId="{6C38AE7A-6A15-4BED-9A2D-9878309D6341}" srcId="{762A5C08-804E-41B3-A4E8-A8E2917D858D}" destId="{35F5F309-BB6C-4523-A691-0465E957E130}" srcOrd="0" destOrd="0" parTransId="{4E48F7A5-A1F1-4A5A-9327-DC6F564A6769}" sibTransId="{68DF462D-A2B4-4A66-AA37-80C23A3F3005}"/>
    <dgm:cxn modelId="{A0175589-DE6B-486F-9D8B-A896DB4192C4}" type="presOf" srcId="{40EAD2D3-3279-425D-8A98-AB70A929BEE9}" destId="{E2B40764-257E-48B7-AB15-46F7B52E8D8B}" srcOrd="0" destOrd="0" presId="urn:microsoft.com/office/officeart/2005/8/layout/vList2"/>
    <dgm:cxn modelId="{C157148C-AEA9-48EE-B231-3F4DC637A251}" srcId="{D4FD3826-FD1A-4FC4-AF4B-C3EF05F45A77}" destId="{888DF534-86A7-48B2-917B-A1BA71517169}" srcOrd="2" destOrd="0" parTransId="{7BC2E756-5F95-42F0-B09F-B1B69533415A}" sibTransId="{2A901F7E-A7E3-4D26-9512-25644296A4EE}"/>
    <dgm:cxn modelId="{D74341A1-DF83-4DD5-90BE-EEDE28481B84}" type="presOf" srcId="{762A5C08-804E-41B3-A4E8-A8E2917D858D}" destId="{10934209-873A-4D5F-9A65-5DC9E58C5B55}" srcOrd="0" destOrd="0" presId="urn:microsoft.com/office/officeart/2005/8/layout/vList2"/>
    <dgm:cxn modelId="{27AB14BB-C222-4FC7-9711-2AE1C16FB306}" srcId="{762A5C08-804E-41B3-A4E8-A8E2917D858D}" destId="{D4FD3826-FD1A-4FC4-AF4B-C3EF05F45A77}" srcOrd="1" destOrd="0" parTransId="{48B52B59-1E15-4CF7-A1B7-330740BE1B7D}" sibTransId="{D1B866F3-9625-46A9-871D-A4AD551AA043}"/>
    <dgm:cxn modelId="{BD8745E5-5D0D-4118-88D1-0F2C6E5DB85F}" type="presOf" srcId="{A5B94561-60B6-458D-AB4A-0725217AC311}" destId="{E2B40764-257E-48B7-AB15-46F7B52E8D8B}" srcOrd="0" destOrd="1" presId="urn:microsoft.com/office/officeart/2005/8/layout/vList2"/>
    <dgm:cxn modelId="{078342FD-0B19-48B0-BA85-E25BFAB86B15}" type="presOf" srcId="{D4FD3826-FD1A-4FC4-AF4B-C3EF05F45A77}" destId="{2F6697A0-E4F6-41F7-90BD-56DDADC538BB}" srcOrd="0" destOrd="0" presId="urn:microsoft.com/office/officeart/2005/8/layout/vList2"/>
    <dgm:cxn modelId="{CAC6EA22-6F6B-49DE-80CC-42D8EF784B11}" type="presParOf" srcId="{10934209-873A-4D5F-9A65-5DC9E58C5B55}" destId="{FA445F80-C444-4D46-83EB-FE207AFA91A4}" srcOrd="0" destOrd="0" presId="urn:microsoft.com/office/officeart/2005/8/layout/vList2"/>
    <dgm:cxn modelId="{B112B78D-943C-4451-B149-B55766919638}" type="presParOf" srcId="{10934209-873A-4D5F-9A65-5DC9E58C5B55}" destId="{390B5B34-447E-4055-BF27-37D5D571A88C}" srcOrd="1" destOrd="0" presId="urn:microsoft.com/office/officeart/2005/8/layout/vList2"/>
    <dgm:cxn modelId="{41C9DC8D-2AD3-48B6-B3DB-B9761C38073D}" type="presParOf" srcId="{10934209-873A-4D5F-9A65-5DC9E58C5B55}" destId="{2F6697A0-E4F6-41F7-90BD-56DDADC538BB}" srcOrd="2" destOrd="0" presId="urn:microsoft.com/office/officeart/2005/8/layout/vList2"/>
    <dgm:cxn modelId="{A640A3AB-8CF2-4A17-9287-EB045E114705}" type="presParOf" srcId="{10934209-873A-4D5F-9A65-5DC9E58C5B55}" destId="{E2B40764-257E-48B7-AB15-46F7B52E8D8B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B51259-222F-4067-8238-F63624790A00}">
      <dsp:nvSpPr>
        <dsp:cNvPr id="0" name=""/>
        <dsp:cNvSpPr/>
      </dsp:nvSpPr>
      <dsp:spPr>
        <a:xfrm>
          <a:off x="622800" y="677955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E81164-D6B6-444D-86BB-F8FFA57B08B5}">
      <dsp:nvSpPr>
        <dsp:cNvPr id="0" name=""/>
        <dsp:cNvSpPr/>
      </dsp:nvSpPr>
      <dsp:spPr>
        <a:xfrm>
          <a:off x="127800" y="1937870"/>
          <a:ext cx="1800000" cy="173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Georgia" panose="02040502050405020303" pitchFamily="18" charset="0"/>
            </a:rPr>
            <a:t>Data silos between staff, managers, and HR</a:t>
          </a:r>
          <a:endParaRPr lang="en-US" sz="2000" b="1" kern="1200" dirty="0">
            <a:solidFill>
              <a:schemeClr val="tx1"/>
            </a:solidFill>
            <a:latin typeface="Georgia" panose="02040502050405020303" pitchFamily="18" charset="0"/>
          </a:endParaRPr>
        </a:p>
      </dsp:txBody>
      <dsp:txXfrm>
        <a:off x="127800" y="1937870"/>
        <a:ext cx="1800000" cy="1736718"/>
      </dsp:txXfrm>
    </dsp:sp>
    <dsp:sp modelId="{03F4805D-0782-4036-89F1-F0DDE201AB84}">
      <dsp:nvSpPr>
        <dsp:cNvPr id="0" name=""/>
        <dsp:cNvSpPr/>
      </dsp:nvSpPr>
      <dsp:spPr>
        <a:xfrm>
          <a:off x="2737800" y="677955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D76CB7-53F9-491B-8590-D150BA3A902A}">
      <dsp:nvSpPr>
        <dsp:cNvPr id="0" name=""/>
        <dsp:cNvSpPr/>
      </dsp:nvSpPr>
      <dsp:spPr>
        <a:xfrm>
          <a:off x="2242800" y="1937870"/>
          <a:ext cx="1800000" cy="173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Georgia" panose="02040502050405020303" pitchFamily="18" charset="0"/>
            </a:rPr>
            <a:t>Reporting delays → active hazards remain unresolved</a:t>
          </a:r>
          <a:endParaRPr lang="en-US" sz="2000" b="1" kern="1200" dirty="0">
            <a:solidFill>
              <a:schemeClr val="tx1"/>
            </a:solidFill>
            <a:latin typeface="Georgia" panose="02040502050405020303" pitchFamily="18" charset="0"/>
          </a:endParaRPr>
        </a:p>
      </dsp:txBody>
      <dsp:txXfrm>
        <a:off x="2242800" y="1937870"/>
        <a:ext cx="1800000" cy="1736718"/>
      </dsp:txXfrm>
    </dsp:sp>
    <dsp:sp modelId="{A4DC8C32-F95D-4A20-8207-86CD0E2CA6E6}">
      <dsp:nvSpPr>
        <dsp:cNvPr id="0" name=""/>
        <dsp:cNvSpPr/>
      </dsp:nvSpPr>
      <dsp:spPr>
        <a:xfrm>
          <a:off x="4852800" y="677955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ED1AF8-82C1-4052-BE0D-60E007072CE4}">
      <dsp:nvSpPr>
        <dsp:cNvPr id="0" name=""/>
        <dsp:cNvSpPr/>
      </dsp:nvSpPr>
      <dsp:spPr>
        <a:xfrm>
          <a:off x="4357800" y="1937870"/>
          <a:ext cx="1800000" cy="173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 dirty="0">
              <a:latin typeface="Georgia" panose="02040502050405020303" pitchFamily="18" charset="0"/>
            </a:rPr>
            <a:t>Manual compliance processes → errors &amp; fatigue</a:t>
          </a:r>
          <a:r>
            <a:rPr lang="en-US" sz="2000" b="1" kern="1200" dirty="0">
              <a:solidFill>
                <a:schemeClr val="tx1"/>
              </a:solidFill>
              <a:latin typeface="Georgia" panose="02040502050405020303" pitchFamily="18" charset="0"/>
            </a:rPr>
            <a:t>.</a:t>
          </a:r>
        </a:p>
      </dsp:txBody>
      <dsp:txXfrm>
        <a:off x="4357800" y="1937870"/>
        <a:ext cx="1800000" cy="1736718"/>
      </dsp:txXfrm>
    </dsp:sp>
    <dsp:sp modelId="{295FF6EA-7D8E-404D-949A-10F339201C49}">
      <dsp:nvSpPr>
        <dsp:cNvPr id="0" name=""/>
        <dsp:cNvSpPr/>
      </dsp:nvSpPr>
      <dsp:spPr>
        <a:xfrm>
          <a:off x="6967800" y="677955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131CE0-F3BA-4E21-95A9-905E191DD30B}">
      <dsp:nvSpPr>
        <dsp:cNvPr id="0" name=""/>
        <dsp:cNvSpPr/>
      </dsp:nvSpPr>
      <dsp:spPr>
        <a:xfrm>
          <a:off x="6472800" y="1937870"/>
          <a:ext cx="1800000" cy="173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Georgia" panose="02040502050405020303" pitchFamily="18" charset="0"/>
            </a:rPr>
            <a:t>No predictive insight → repeated incidents</a:t>
          </a:r>
          <a:r>
            <a:rPr lang="en-US" sz="1600" b="1" kern="1200" dirty="0">
              <a:solidFill>
                <a:schemeClr val="tx1"/>
              </a:solidFill>
              <a:latin typeface="Georgia Pro Semibold" panose="02040702050405020303" pitchFamily="18" charset="0"/>
            </a:rPr>
            <a:t>.</a:t>
          </a:r>
        </a:p>
      </dsp:txBody>
      <dsp:txXfrm>
        <a:off x="6472800" y="1937870"/>
        <a:ext cx="1800000" cy="1736718"/>
      </dsp:txXfrm>
    </dsp:sp>
    <dsp:sp modelId="{62C8BD2E-8AF7-4DBC-8358-E1B28E51BCF7}">
      <dsp:nvSpPr>
        <dsp:cNvPr id="0" name=""/>
        <dsp:cNvSpPr/>
      </dsp:nvSpPr>
      <dsp:spPr>
        <a:xfrm>
          <a:off x="9082800" y="677955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DE314F-E2BA-4E12-8600-01FF9B8AF054}">
      <dsp:nvSpPr>
        <dsp:cNvPr id="0" name=""/>
        <dsp:cNvSpPr/>
      </dsp:nvSpPr>
      <dsp:spPr>
        <a:xfrm>
          <a:off x="8587800" y="1937870"/>
          <a:ext cx="1800000" cy="173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Georgia" panose="02040502050405020303" pitchFamily="18" charset="0"/>
            </a:rPr>
            <a:t>Safety management is </a:t>
          </a:r>
          <a:r>
            <a:rPr lang="en-US" sz="2000" b="1" kern="1200" dirty="0">
              <a:latin typeface="Georgia" panose="02040502050405020303" pitchFamily="18" charset="0"/>
            </a:rPr>
            <a:t>reactive, fragmented, and inefficient</a:t>
          </a:r>
          <a:endParaRPr lang="en-US" sz="2000" b="1" kern="1200" dirty="0">
            <a:solidFill>
              <a:srgbClr val="358A37"/>
            </a:solidFill>
            <a:latin typeface="Georgia" panose="02040502050405020303" pitchFamily="18" charset="0"/>
          </a:endParaRPr>
        </a:p>
      </dsp:txBody>
      <dsp:txXfrm>
        <a:off x="8587800" y="1937870"/>
        <a:ext cx="1800000" cy="17367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8C3B7E-6101-4660-BF98-06CCF08456D6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A1C651-1B8E-4747-94F1-FD23BB50064D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B9EDEC-B2C4-430F-B441-1E08FFA64677}">
      <dsp:nvSpPr>
        <dsp:cNvPr id="0" name=""/>
        <dsp:cNvSpPr/>
      </dsp:nvSpPr>
      <dsp:spPr>
        <a:xfrm>
          <a:off x="1437631" y="531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300" kern="1200"/>
            <a:t>AI-Prescriptive Logic: Unlike standard trackers, SafeSight uses a Random Forest Classifier to suggest immediate "Strategic Actions.</a:t>
          </a:r>
          <a:endParaRPr lang="en-US" sz="2300" kern="1200"/>
        </a:p>
      </dsp:txBody>
      <dsp:txXfrm>
        <a:off x="1437631" y="531"/>
        <a:ext cx="9077968" cy="1244702"/>
      </dsp:txXfrm>
    </dsp:sp>
    <dsp:sp modelId="{A51F06E9-DFB8-4CA5-82F4-36842914621E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65A410-B011-4DF9-874E-F8F8E21C75B2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B7FDCC-B832-450A-8095-3F63BF24AA12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300" kern="1200"/>
            <a:t>"Heuristic Dashboarding: Utilizes pre-attentive attributes (color-coding and urgency markers) to reduce cognitive load for managers during high-stress shifts.</a:t>
          </a:r>
          <a:endParaRPr lang="en-US" sz="2300" kern="1200"/>
        </a:p>
      </dsp:txBody>
      <dsp:txXfrm>
        <a:off x="1437631" y="1556410"/>
        <a:ext cx="9077968" cy="1244702"/>
      </dsp:txXfrm>
    </dsp:sp>
    <dsp:sp modelId="{12130168-01EC-4AE9-B291-4119CECEA129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113AC4-4FD2-4130-A6FE-AF577CC8B7ED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FD9CBE-1B50-49EA-9DF6-690EDD306F0C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300" kern="1200"/>
            <a:t>Compliance Bridge: Direct data-mapping from a SQL backend to WorkSafeBC official report formats.</a:t>
          </a:r>
          <a:endParaRPr lang="en-US" sz="2300" kern="1200"/>
        </a:p>
      </dsp:txBody>
      <dsp:txXfrm>
        <a:off x="1437631" y="3112289"/>
        <a:ext cx="9077968" cy="12447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404930-8256-47D4-AC8B-E2D9CB3D4B87}">
      <dsp:nvSpPr>
        <dsp:cNvPr id="0" name=""/>
        <dsp:cNvSpPr/>
      </dsp:nvSpPr>
      <dsp:spPr>
        <a:xfrm>
          <a:off x="1093850" y="1030766"/>
          <a:ext cx="874012" cy="7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070E90-C9FF-49B3-8B98-138718980BE2}">
      <dsp:nvSpPr>
        <dsp:cNvPr id="0" name=""/>
        <dsp:cNvSpPr/>
      </dsp:nvSpPr>
      <dsp:spPr>
        <a:xfrm>
          <a:off x="2020303" y="957385"/>
          <a:ext cx="100511" cy="188786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-60659"/>
            <a:satOff val="-5382"/>
            <a:lumOff val="-5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60659"/>
              <a:satOff val="-5382"/>
              <a:lumOff val="-5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D52AD5-F97D-4C5D-A0AA-0505406DD27E}">
      <dsp:nvSpPr>
        <dsp:cNvPr id="0" name=""/>
        <dsp:cNvSpPr/>
      </dsp:nvSpPr>
      <dsp:spPr>
        <a:xfrm>
          <a:off x="542990" y="589194"/>
          <a:ext cx="883215" cy="8832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74" tIns="34274" rIns="34274" bIns="34274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>
              <a:latin typeface="Times New Roman" panose="02020603050405020304" pitchFamily="18" charset="0"/>
              <a:cs typeface="Times New Roman" panose="02020603050405020304" pitchFamily="18" charset="0"/>
            </a:rPr>
            <a:t>1</a:t>
          </a:r>
        </a:p>
      </dsp:txBody>
      <dsp:txXfrm>
        <a:off x="672334" y="718538"/>
        <a:ext cx="624527" cy="624527"/>
      </dsp:txXfrm>
    </dsp:sp>
    <dsp:sp modelId="{2E02AB91-DB09-4552-9C47-69856668D3E1}">
      <dsp:nvSpPr>
        <dsp:cNvPr id="0" name=""/>
        <dsp:cNvSpPr/>
      </dsp:nvSpPr>
      <dsp:spPr>
        <a:xfrm>
          <a:off x="1333" y="1638010"/>
          <a:ext cx="1966528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-121318"/>
            <a:satOff val="-10764"/>
            <a:lumOff val="-11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21318"/>
              <a:satOff val="-10764"/>
              <a:lumOff val="-11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5122" tIns="165100" rIns="155122" bIns="1651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Phase 1: Entry:</a:t>
          </a:r>
          <a:r>
            <a:rPr lang="en-US" sz="1800" b="0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 Secure Role-Based Access (Department Manager vs. HR).</a:t>
          </a:r>
          <a:endParaRPr lang="en-US" sz="1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333" y="2031130"/>
        <a:ext cx="1966528" cy="1572480"/>
      </dsp:txXfrm>
    </dsp:sp>
    <dsp:sp modelId="{0639C534-851A-45DB-A0D6-749F8D0957ED}">
      <dsp:nvSpPr>
        <dsp:cNvPr id="0" name=""/>
        <dsp:cNvSpPr/>
      </dsp:nvSpPr>
      <dsp:spPr>
        <a:xfrm>
          <a:off x="2186366" y="1030766"/>
          <a:ext cx="1966528" cy="72"/>
        </a:xfrm>
        <a:prstGeom prst="rect">
          <a:avLst/>
        </a:prstGeom>
        <a:solidFill>
          <a:schemeClr val="accent2">
            <a:tint val="40000"/>
            <a:alpha val="90000"/>
            <a:hueOff val="-181977"/>
            <a:satOff val="-16146"/>
            <a:lumOff val="-16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81977"/>
              <a:satOff val="-16146"/>
              <a:lumOff val="-1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0EDF1C-FD4D-4BA9-B6A7-EBC4F0AF18DE}">
      <dsp:nvSpPr>
        <dsp:cNvPr id="0" name=""/>
        <dsp:cNvSpPr/>
      </dsp:nvSpPr>
      <dsp:spPr>
        <a:xfrm>
          <a:off x="4205335" y="957385"/>
          <a:ext cx="100511" cy="188786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-242636"/>
            <a:satOff val="-21527"/>
            <a:lumOff val="-22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42636"/>
              <a:satOff val="-21527"/>
              <a:lumOff val="-22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F7BADB-3FBF-4076-98C3-F87102986CBC}">
      <dsp:nvSpPr>
        <dsp:cNvPr id="0" name=""/>
        <dsp:cNvSpPr/>
      </dsp:nvSpPr>
      <dsp:spPr>
        <a:xfrm>
          <a:off x="2728022" y="589194"/>
          <a:ext cx="883215" cy="883215"/>
        </a:xfrm>
        <a:prstGeom prst="ellipse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accent2">
              <a:hueOff val="-363841"/>
              <a:satOff val="-20982"/>
              <a:lumOff val="215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74" tIns="34274" rIns="34274" bIns="34274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>
              <a:latin typeface="Times New Roman" panose="02020603050405020304" pitchFamily="18" charset="0"/>
              <a:cs typeface="Times New Roman" panose="02020603050405020304" pitchFamily="18" charset="0"/>
            </a:rPr>
            <a:t>2</a:t>
          </a:r>
        </a:p>
      </dsp:txBody>
      <dsp:txXfrm>
        <a:off x="2857366" y="718538"/>
        <a:ext cx="624527" cy="624527"/>
      </dsp:txXfrm>
    </dsp:sp>
    <dsp:sp modelId="{E9F379FB-40D7-4F9E-9602-7DFDA13A0BBB}">
      <dsp:nvSpPr>
        <dsp:cNvPr id="0" name=""/>
        <dsp:cNvSpPr/>
      </dsp:nvSpPr>
      <dsp:spPr>
        <a:xfrm>
          <a:off x="2186366" y="1638010"/>
          <a:ext cx="1966528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-303295"/>
            <a:satOff val="-26909"/>
            <a:lumOff val="-27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303295"/>
              <a:satOff val="-26909"/>
              <a:lumOff val="-27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5122" tIns="165100" rIns="155122" bIns="1651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Phase 2: Input:</a:t>
          </a:r>
          <a:r>
            <a:rPr lang="en-US" sz="15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Standardized incident reporting with narrative capture.</a:t>
          </a:r>
          <a:endParaRPr lang="en-U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186366" y="2031130"/>
        <a:ext cx="1966528" cy="1572480"/>
      </dsp:txXfrm>
    </dsp:sp>
    <dsp:sp modelId="{C877B7C0-E666-475C-BD5C-FD299FEF234B}">
      <dsp:nvSpPr>
        <dsp:cNvPr id="0" name=""/>
        <dsp:cNvSpPr/>
      </dsp:nvSpPr>
      <dsp:spPr>
        <a:xfrm>
          <a:off x="4371398" y="1030766"/>
          <a:ext cx="1966528" cy="72"/>
        </a:xfrm>
        <a:prstGeom prst="rect">
          <a:avLst/>
        </a:prstGeom>
        <a:solidFill>
          <a:schemeClr val="accent2">
            <a:tint val="40000"/>
            <a:alpha val="90000"/>
            <a:hueOff val="-363954"/>
            <a:satOff val="-32291"/>
            <a:lumOff val="-33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363954"/>
              <a:satOff val="-32291"/>
              <a:lumOff val="-3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3E540E-1054-405C-98BA-395B55E21B55}">
      <dsp:nvSpPr>
        <dsp:cNvPr id="0" name=""/>
        <dsp:cNvSpPr/>
      </dsp:nvSpPr>
      <dsp:spPr>
        <a:xfrm>
          <a:off x="6390368" y="957385"/>
          <a:ext cx="100511" cy="188786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-424613"/>
            <a:satOff val="-37673"/>
            <a:lumOff val="-38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24613"/>
              <a:satOff val="-37673"/>
              <a:lumOff val="-3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5D5F56-5510-4207-B4B5-D36B002CC75D}">
      <dsp:nvSpPr>
        <dsp:cNvPr id="0" name=""/>
        <dsp:cNvSpPr/>
      </dsp:nvSpPr>
      <dsp:spPr>
        <a:xfrm>
          <a:off x="4913055" y="589194"/>
          <a:ext cx="883215" cy="883215"/>
        </a:xfrm>
        <a:prstGeom prst="ellipse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74" tIns="34274" rIns="34274" bIns="34274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>
              <a:latin typeface="Times New Roman" panose="02020603050405020304" pitchFamily="18" charset="0"/>
              <a:cs typeface="Times New Roman" panose="02020603050405020304" pitchFamily="18" charset="0"/>
            </a:rPr>
            <a:t>3</a:t>
          </a:r>
        </a:p>
      </dsp:txBody>
      <dsp:txXfrm>
        <a:off x="5042399" y="718538"/>
        <a:ext cx="624527" cy="624527"/>
      </dsp:txXfrm>
    </dsp:sp>
    <dsp:sp modelId="{494FE93D-0F42-4013-B594-60E49FF00F81}">
      <dsp:nvSpPr>
        <dsp:cNvPr id="0" name=""/>
        <dsp:cNvSpPr/>
      </dsp:nvSpPr>
      <dsp:spPr>
        <a:xfrm>
          <a:off x="4371398" y="1638010"/>
          <a:ext cx="1966528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-485272"/>
            <a:satOff val="-43055"/>
            <a:lumOff val="-43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85272"/>
              <a:satOff val="-43055"/>
              <a:lumOff val="-4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5122" tIns="165100" rIns="155122" bIns="1651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Phase 3: Analysis:</a:t>
          </a:r>
          <a:r>
            <a:rPr lang="en-US" sz="1500" b="0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 AI Service processes data to identify risk probabilities.</a:t>
          </a:r>
          <a:endParaRPr lang="en-US" sz="15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371398" y="2031130"/>
        <a:ext cx="1966528" cy="1572480"/>
      </dsp:txXfrm>
    </dsp:sp>
    <dsp:sp modelId="{A9EB01B1-7D0A-45E4-9036-B3EC6A6F8D2A}">
      <dsp:nvSpPr>
        <dsp:cNvPr id="0" name=""/>
        <dsp:cNvSpPr/>
      </dsp:nvSpPr>
      <dsp:spPr>
        <a:xfrm>
          <a:off x="6556430" y="1030766"/>
          <a:ext cx="1966528" cy="72"/>
        </a:xfrm>
        <a:prstGeom prst="rect">
          <a:avLst/>
        </a:prstGeom>
        <a:solidFill>
          <a:schemeClr val="accent2">
            <a:tint val="40000"/>
            <a:alpha val="90000"/>
            <a:hueOff val="-545931"/>
            <a:satOff val="-48437"/>
            <a:lumOff val="-49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545931"/>
              <a:satOff val="-48437"/>
              <a:lumOff val="-49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C0150F-B9F7-45BB-A564-7968382AB2D4}">
      <dsp:nvSpPr>
        <dsp:cNvPr id="0" name=""/>
        <dsp:cNvSpPr/>
      </dsp:nvSpPr>
      <dsp:spPr>
        <a:xfrm>
          <a:off x="8575400" y="957385"/>
          <a:ext cx="100511" cy="188786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-606590"/>
            <a:satOff val="-53819"/>
            <a:lumOff val="-54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606590"/>
              <a:satOff val="-53819"/>
              <a:lumOff val="-5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0A06B2-D9E8-4994-8570-157300A07E33}">
      <dsp:nvSpPr>
        <dsp:cNvPr id="0" name=""/>
        <dsp:cNvSpPr/>
      </dsp:nvSpPr>
      <dsp:spPr>
        <a:xfrm>
          <a:off x="7098087" y="589194"/>
          <a:ext cx="883215" cy="883215"/>
        </a:xfrm>
        <a:prstGeom prst="ellipse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accent2">
              <a:hueOff val="-1091522"/>
              <a:satOff val="-62946"/>
              <a:lumOff val="6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74" tIns="34274" rIns="34274" bIns="34274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>
              <a:latin typeface="Times New Roman" panose="02020603050405020304" pitchFamily="18" charset="0"/>
              <a:cs typeface="Times New Roman" panose="02020603050405020304" pitchFamily="18" charset="0"/>
            </a:rPr>
            <a:t>4</a:t>
          </a:r>
        </a:p>
      </dsp:txBody>
      <dsp:txXfrm>
        <a:off x="7227431" y="718538"/>
        <a:ext cx="624527" cy="624527"/>
      </dsp:txXfrm>
    </dsp:sp>
    <dsp:sp modelId="{53A50E51-D599-4D98-A120-BA97AE7856D3}">
      <dsp:nvSpPr>
        <dsp:cNvPr id="0" name=""/>
        <dsp:cNvSpPr/>
      </dsp:nvSpPr>
      <dsp:spPr>
        <a:xfrm>
          <a:off x="6556430" y="1638010"/>
          <a:ext cx="1966528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-667249"/>
            <a:satOff val="-59200"/>
            <a:lumOff val="-60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667249"/>
              <a:satOff val="-59200"/>
              <a:lumOff val="-60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5122" tIns="165100" rIns="155122" bIns="1651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Phase 4: Execution:</a:t>
          </a:r>
          <a:r>
            <a:rPr lang="en-US" sz="1500" b="0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 Real-time Dashboard provides actionable "AI Recommendations."</a:t>
          </a:r>
          <a:endParaRPr lang="en-US" sz="15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556430" y="2031130"/>
        <a:ext cx="1966528" cy="1572480"/>
      </dsp:txXfrm>
    </dsp:sp>
    <dsp:sp modelId="{7F3A6A40-0F24-42FD-8179-54737CB24DF9}">
      <dsp:nvSpPr>
        <dsp:cNvPr id="0" name=""/>
        <dsp:cNvSpPr/>
      </dsp:nvSpPr>
      <dsp:spPr>
        <a:xfrm>
          <a:off x="8741462" y="1030766"/>
          <a:ext cx="983264" cy="72"/>
        </a:xfrm>
        <a:prstGeom prst="rect">
          <a:avLst/>
        </a:prstGeom>
        <a:solidFill>
          <a:schemeClr val="accent2">
            <a:tint val="40000"/>
            <a:alpha val="90000"/>
            <a:hueOff val="-727908"/>
            <a:satOff val="-64582"/>
            <a:lumOff val="-65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727908"/>
              <a:satOff val="-64582"/>
              <a:lumOff val="-6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51A61A-9B71-4115-8BBE-3F4371CD4DA5}">
      <dsp:nvSpPr>
        <dsp:cNvPr id="0" name=""/>
        <dsp:cNvSpPr/>
      </dsp:nvSpPr>
      <dsp:spPr>
        <a:xfrm>
          <a:off x="9283119" y="589194"/>
          <a:ext cx="883215" cy="883215"/>
        </a:xfrm>
        <a:prstGeom prst="ellips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74" tIns="34274" rIns="34274" bIns="34274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>
              <a:latin typeface="Times New Roman" panose="02020603050405020304" pitchFamily="18" charset="0"/>
              <a:cs typeface="Times New Roman" panose="02020603050405020304" pitchFamily="18" charset="0"/>
            </a:rPr>
            <a:t>5</a:t>
          </a:r>
        </a:p>
      </dsp:txBody>
      <dsp:txXfrm>
        <a:off x="9412463" y="718538"/>
        <a:ext cx="624527" cy="624527"/>
      </dsp:txXfrm>
    </dsp:sp>
    <dsp:sp modelId="{62AB3804-74E0-4E94-A556-DCB07D0BB238}">
      <dsp:nvSpPr>
        <dsp:cNvPr id="0" name=""/>
        <dsp:cNvSpPr/>
      </dsp:nvSpPr>
      <dsp:spPr>
        <a:xfrm>
          <a:off x="8741462" y="1638010"/>
          <a:ext cx="1966528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5122" tIns="165100" rIns="155122" bIns="1651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Phase 5: Compliance:</a:t>
          </a:r>
          <a:r>
            <a:rPr lang="en-US" sz="1500" b="0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 One-click PDF/Excel export for regulatory submission.</a:t>
          </a:r>
          <a:endParaRPr lang="en-US" sz="15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741462" y="2031130"/>
        <a:ext cx="1966528" cy="15724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445F80-C444-4D46-83EB-FE207AFA91A4}">
      <dsp:nvSpPr>
        <dsp:cNvPr id="0" name=""/>
        <dsp:cNvSpPr/>
      </dsp:nvSpPr>
      <dsp:spPr>
        <a:xfrm>
          <a:off x="0" y="4802"/>
          <a:ext cx="10927829" cy="120802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The Algorithm:</a:t>
          </a:r>
          <a:r>
            <a:rPr lang="en-US" sz="32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Random Forest Classifier (chosen for high handling of non-linear data).</a:t>
          </a:r>
          <a:endParaRPr lang="en-US" sz="3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8971" y="63773"/>
        <a:ext cx="10809887" cy="1090083"/>
      </dsp:txXfrm>
    </dsp:sp>
    <dsp:sp modelId="{2F6697A0-E4F6-41F7-90BD-56DDADC538BB}">
      <dsp:nvSpPr>
        <dsp:cNvPr id="0" name=""/>
        <dsp:cNvSpPr/>
      </dsp:nvSpPr>
      <dsp:spPr>
        <a:xfrm>
          <a:off x="0" y="1313627"/>
          <a:ext cx="10927829" cy="1208025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Key Performance Indicators (KPIs):</a:t>
          </a:r>
          <a:endParaRPr lang="en-US" sz="35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8971" y="1372598"/>
        <a:ext cx="10809887" cy="1090083"/>
      </dsp:txXfrm>
    </dsp:sp>
    <dsp:sp modelId="{E2B40764-257E-48B7-AB15-46F7B52E8D8B}">
      <dsp:nvSpPr>
        <dsp:cNvPr id="0" name=""/>
        <dsp:cNvSpPr/>
      </dsp:nvSpPr>
      <dsp:spPr>
        <a:xfrm>
          <a:off x="0" y="2521652"/>
          <a:ext cx="10927829" cy="166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6959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90.1%</a:t>
          </a:r>
          <a:r>
            <a:rPr lang="en-US" sz="27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Standard Accuracy.</a:t>
          </a:r>
          <a:endParaRPr lang="en-US" sz="2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97% Recall</a:t>
          </a:r>
          <a:r>
            <a:rPr lang="en-US" sz="27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for High-Risk incidents (Priority on sensitivity).</a:t>
          </a:r>
          <a:endParaRPr lang="en-US" sz="2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Feature Importance:</a:t>
          </a:r>
          <a:r>
            <a:rPr lang="en-US" sz="27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Identified "Month" and "Department" as the primary drivers of risk at the Fairmont Waterfront.</a:t>
          </a:r>
          <a:endParaRPr lang="en-US" sz="2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2521652"/>
        <a:ext cx="10927829" cy="16663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B336D-453B-47CD-BBF7-3D2CC927AF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E242B7-021C-4F3B-A75A-F3EA992F18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A9E47-3970-408B-A331-A4B31E1AB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C18E9-77AD-482C-AFD2-162A6337A0BF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13948-E1E7-4437-A27A-FE45F801B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58C6C-6221-47A8-B517-861F5562A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3AE4C-57F6-43CA-AAA3-5B268AC71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281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9AE5F-BC79-40DF-8821-DD2833EAC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D72B6-8833-40C3-A4F8-6629760DA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E49DB-4B36-4F9E-B969-A6A255DBD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C18E9-77AD-482C-AFD2-162A6337A0BF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5D215-F51D-4B3B-94DA-C743727CD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C91D0-46B9-4291-BF6F-25C655C1D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3AE4C-57F6-43CA-AAA3-5B268AC71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842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0AB36-C45B-4492-AA40-E53A5B0E2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CA4CCD-CA38-48EE-8874-B24BE6FAA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5960E-4A1E-4C43-AF2D-AD354DD53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C18E9-77AD-482C-AFD2-162A6337A0BF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E4222-3A6A-4148-A304-E2F986045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B0292-B0D7-4618-B996-6D8CFED93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3AE4C-57F6-43CA-AAA3-5B268AC71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106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3A1F2-E47F-44FE-A22C-A0CC7E39A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2D421-0BCD-448D-BBB3-8858FF8B3D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A0457C-E18F-43D6-A045-EBED111F6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384A8B-3443-4DFC-B73C-1A5D07BC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C18E9-77AD-482C-AFD2-162A6337A0BF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60E99C-897D-4587-B489-96F49CE04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1889BD-22AB-42AD-BCBA-777F1C3B7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3AE4C-57F6-43CA-AAA3-5B268AC71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493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73E91-1B41-4B69-8758-65FFB7E6C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52C526-A42C-4C5C-B628-972AA7DCE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1C13A8-B239-4F2B-906A-69A158C37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76A497-F6B1-4151-B430-C49900689E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4B94F0-1B27-40DF-9D28-8B264B69BC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47FC94-37B9-4A7E-9B80-699059051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C18E9-77AD-482C-AFD2-162A6337A0BF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D836C7-BAC8-423E-ADB9-084FF248E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7B79A2-053C-41D1-9D9D-95EEC04CD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3AE4C-57F6-43CA-AAA3-5B268AC71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70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8A833-977C-4B68-A672-2837D11AC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D46D3C-51A4-4C06-995C-311F5A9EB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C18E9-77AD-482C-AFD2-162A6337A0BF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299F1B-11B3-45B7-B673-70FA488D3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C5F1D9-972B-4BF4-B220-752A3E53F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3AE4C-57F6-43CA-AAA3-5B268AC71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422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A784D3-C2FA-4EEF-B740-83D45C3A1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C18E9-77AD-482C-AFD2-162A6337A0BF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8BCBBB-AB5E-41F5-9859-23E041533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470478-5DB9-4842-98E2-C3D92BA74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3AE4C-57F6-43CA-AAA3-5B268AC71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135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DA533-9B7A-41FA-9CCF-7D6BAF03C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9A3C7-E92D-4C32-92ED-2B04AA58B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B477CE-09AA-416E-B19F-B210B8F2CF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B69752-53BC-4ED5-90E5-9B0C14634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C18E9-77AD-482C-AFD2-162A6337A0BF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7649C0-C415-47B7-828B-5C873F05B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E3DC16-AA93-41F4-A557-B2CFB0BE5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3AE4C-57F6-43CA-AAA3-5B268AC71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297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A2984-0736-40F6-95CF-E7267CA29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111B24-6B22-46A3-B9B6-740DF23822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7E996F-1BDE-4117-A4DE-6E7A6E4C2E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CFFFA0-44A5-4F42-8E05-A683CEB3A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C18E9-77AD-482C-AFD2-162A6337A0BF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77D58A-85C6-4F36-A465-BB51E3A1F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A3064A-30DE-4FF3-8516-AE65CF51C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3AE4C-57F6-43CA-AAA3-5B268AC71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47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80D3B-A6CB-437F-87B3-5D2A6F1C5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B48AFD-C89B-4E1D-8638-63CAB61FD7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5C928-9271-4995-B396-7634DBC8F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C18E9-77AD-482C-AFD2-162A6337A0BF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5166B-C52D-4BE4-9ED7-14E410457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8ED75-2518-4CB0-B876-1294801E4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3AE4C-57F6-43CA-AAA3-5B268AC71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105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14C3B8-60BB-447B-8F1D-496075384F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0B782E-D120-4B24-BB2F-ED95E283D4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E7A5E-38C3-415B-BBB5-7E46DA289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C18E9-77AD-482C-AFD2-162A6337A0BF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DCC3B-50C6-4334-92AC-83F90BFBA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66F0B-0467-43AF-8611-6F1BBB2E7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3AE4C-57F6-43CA-AAA3-5B268AC71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299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307B0B-AE1C-4D65-B440-C74A40B72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E81C5-2E61-43BC-B35C-235EAE468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45888-51C0-4E9C-9FFE-09B08DD259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FC18E9-77AD-482C-AFD2-162A6337A0BF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0D577-0884-45BE-9F99-B9A3B0626D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F1618-839A-496D-B3EF-031A1D77C1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73AE4C-57F6-43CA-AAA3-5B268AC71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398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rity.com/blog/digital-incident-management/" TargetMode="External"/><Relationship Id="rId2" Type="http://schemas.openxmlformats.org/officeDocument/2006/relationships/hyperlink" Target="https://www.osha.gov/severe-injury-report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orksafebc.com/en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D55CA618-78A6-47F6-B865-E9315164F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83D307E-DF68-43F8-97CE-0AAE950A7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71255" y="-1"/>
            <a:ext cx="7649490" cy="5728133"/>
            <a:chOff x="329184" y="1"/>
            <a:chExt cx="524256" cy="5728133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546E3D2-37BF-4528-9851-2B2F628234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28134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52A0C69-DC4E-4FC0-843C-BAA27B3A56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8ED94938-268E-4C0A-A08A-B3980C78B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318045"/>
            <a:ext cx="10999072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6492CC-DDA1-4B32-B88D-7E5F15B503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7080" y="3102007"/>
            <a:ext cx="10071536" cy="92975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spcAft>
                <a:spcPts val="1400"/>
              </a:spcAft>
            </a:pPr>
            <a:r>
              <a:rPr lang="en-US" sz="3200" dirty="0" err="1">
                <a:latin typeface="Georgia Pro Semibold" panose="02040702050405020303" pitchFamily="18" charset="0"/>
              </a:rPr>
              <a:t>SafeSight</a:t>
            </a:r>
            <a:r>
              <a:rPr lang="en-US" sz="3200" dirty="0">
                <a:latin typeface="Georgia Pro Semibold" panose="02040702050405020303" pitchFamily="18" charset="0"/>
              </a:rPr>
              <a:t> AI: Bridging the Analytical Gap through a Predictive Full-Stack Framework for Proactive Hospitality Safety Management</a:t>
            </a:r>
            <a:endParaRPr lang="en-US" sz="2900" b="1" dirty="0">
              <a:ln w="0">
                <a:solidFill>
                  <a:schemeClr val="bg1"/>
                </a:solidFill>
              </a:ln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Georgia Pro Semibold" panose="020407020504050203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63AD0C-3013-40F4-AADE-E08CB69095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0667" y="4494717"/>
            <a:ext cx="10071536" cy="44837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>
                <a:effectLst/>
                <a:latin typeface="Georgia Pro Semibold" panose="02040702050405020303" pitchFamily="18" charset="0"/>
              </a:rPr>
              <a:t>Sandali Silva</a:t>
            </a:r>
          </a:p>
          <a:p>
            <a:r>
              <a:rPr lang="en-US" sz="1800" dirty="0">
                <a:latin typeface="Georgia Pro Semibold" panose="02040702050405020303" pitchFamily="18" charset="0"/>
              </a:rPr>
              <a:t>Computing Studies &amp; Information Systems</a:t>
            </a:r>
          </a:p>
          <a:p>
            <a:endParaRPr lang="en-US" sz="1800" dirty="0">
              <a:effectLst/>
              <a:latin typeface="Georgia Pro Semibold" panose="02040702050405020303" pitchFamily="18" charset="0"/>
            </a:endParaRPr>
          </a:p>
          <a:p>
            <a:br>
              <a:rPr lang="en-US" sz="1800" dirty="0">
                <a:effectLst/>
                <a:latin typeface="Georgia Pro Semibold" panose="02040702050405020303" pitchFamily="18" charset="0"/>
              </a:rPr>
            </a:br>
            <a:br>
              <a:rPr lang="en-US" sz="1800" dirty="0">
                <a:effectLst/>
                <a:highlight>
                  <a:srgbClr val="FFFFFF"/>
                </a:highlight>
                <a:latin typeface="Georgia Pro Semibold" panose="02040702050405020303" pitchFamily="18" charset="0"/>
              </a:rPr>
            </a:br>
            <a:endParaRPr lang="en-US" sz="1800" dirty="0">
              <a:latin typeface="Georgia Pro Semibold" panose="02040702050405020303" pitchFamily="18" charset="0"/>
            </a:endParaRPr>
          </a:p>
        </p:txBody>
      </p:sp>
      <p:pic>
        <p:nvPicPr>
          <p:cNvPr id="13" name="Picture 12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EE22BEA6-2BBA-3B32-62D6-98F7F23982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2646" y="814904"/>
            <a:ext cx="2359557" cy="10219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1CC7BFE-790F-54AB-BCC3-4180CF0037A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64" t="28077" r="7308" b="31666"/>
          <a:stretch>
            <a:fillRect/>
          </a:stretch>
        </p:blipFill>
        <p:spPr bwMode="auto">
          <a:xfrm>
            <a:off x="842591" y="429435"/>
            <a:ext cx="5065776" cy="1990895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354864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1EB8E-05C8-4AAB-996D-C4691A83B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rgia Pro Semibold" panose="02040702050405020303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4F52-50DF-4005-9A54-7E28E6518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Georgia" panose="02040502050405020303" pitchFamily="18" charset="0"/>
              </a:rPr>
              <a:t>Why Workplace Safety Still Fails?</a:t>
            </a:r>
            <a:endParaRPr lang="en-US" sz="2000" dirty="0">
              <a:latin typeface="Georgia" panose="02040502050405020303" pitchFamily="18" charset="0"/>
            </a:endParaRPr>
          </a:p>
          <a:p>
            <a:pPr algn="just"/>
            <a:r>
              <a:rPr lang="en-US" sz="2000" dirty="0">
                <a:latin typeface="Georgia" panose="02040502050405020303" pitchFamily="18" charset="0"/>
              </a:rPr>
              <a:t>Hospitality = high-risk, high-pressure environment </a:t>
            </a:r>
          </a:p>
          <a:p>
            <a:pPr algn="just"/>
            <a:r>
              <a:rPr lang="en-US" sz="2000" dirty="0">
                <a:latin typeface="Georgia" panose="02040502050405020303" pitchFamily="18" charset="0"/>
              </a:rPr>
              <a:t>In the high-pressure environment of luxury hospitality, workplace injuries are often viewed as inevitable operational costs.</a:t>
            </a:r>
          </a:p>
          <a:p>
            <a:pPr algn="just"/>
            <a:r>
              <a:rPr lang="en-US" sz="2000" dirty="0">
                <a:latin typeface="Georgia" panose="02040502050405020303" pitchFamily="18" charset="0"/>
              </a:rPr>
              <a:t>Current safety management relies on "lagging indicators"—analyzing accidents after they happen.</a:t>
            </a:r>
          </a:p>
          <a:p>
            <a:pPr algn="just"/>
            <a:r>
              <a:rPr lang="en-US" sz="2000" b="1" dirty="0">
                <a:latin typeface="Georgia" panose="02040502050405020303" pitchFamily="18" charset="0"/>
              </a:rPr>
              <a:t>The Exigency: </a:t>
            </a:r>
            <a:r>
              <a:rPr lang="en-US" sz="2000" dirty="0">
                <a:latin typeface="Georgia" panose="02040502050405020303" pitchFamily="18" charset="0"/>
              </a:rPr>
              <a:t>for all the institutions in the hospitality industry, a slip in the kitchen or a repetitive injury in housekeeping isn't just a </a:t>
            </a:r>
            <a:r>
              <a:rPr lang="en-US" sz="2000" dirty="0" err="1">
                <a:latin typeface="Georgia" panose="02040502050405020303" pitchFamily="18" charset="0"/>
              </a:rPr>
              <a:t>WorkSafeBC</a:t>
            </a:r>
            <a:r>
              <a:rPr lang="en-US" sz="2000" dirty="0">
                <a:latin typeface="Georgia" panose="02040502050405020303" pitchFamily="18" charset="0"/>
              </a:rPr>
              <a:t> claim; it represents a failure in proactive care.</a:t>
            </a:r>
          </a:p>
          <a:p>
            <a:pPr algn="just"/>
            <a:r>
              <a:rPr lang="en-US" sz="2000" b="1" dirty="0">
                <a:latin typeface="Georgia" panose="02040502050405020303" pitchFamily="18" charset="0"/>
              </a:rPr>
              <a:t>The Goal: </a:t>
            </a:r>
            <a:r>
              <a:rPr lang="en-US" sz="2000" dirty="0" err="1">
                <a:latin typeface="Georgia" panose="02040502050405020303" pitchFamily="18" charset="0"/>
              </a:rPr>
              <a:t>SafeSight</a:t>
            </a:r>
            <a:r>
              <a:rPr lang="en-US" sz="2000" dirty="0">
                <a:latin typeface="Georgia" panose="02040502050405020303" pitchFamily="18" charset="0"/>
              </a:rPr>
              <a:t> moves the needle from "What happened?" to "What will happen?"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D30F9A-EC90-4718-9A15-F7CBEE9FC3AF}"/>
              </a:ext>
            </a:extLst>
          </p:cNvPr>
          <p:cNvSpPr/>
          <p:nvPr/>
        </p:nvSpPr>
        <p:spPr>
          <a:xfrm>
            <a:off x="0" y="0"/>
            <a:ext cx="290945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09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A94AA0-0C49-ADC2-47AA-269873A0D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CA" sz="4800" b="1">
                <a:latin typeface="Georgia Pro Semibold" panose="02040702050405020303" pitchFamily="18" charset="0"/>
              </a:rPr>
              <a:t>Research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0BCF8-DDDC-10D9-7147-2FE5487C3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Georgia" panose="02040502050405020303" pitchFamily="18" charset="0"/>
              </a:rPr>
              <a:t>The Digital Imperative in Workplace Safety</a:t>
            </a:r>
          </a:p>
          <a:p>
            <a:r>
              <a:rPr lang="en-US" sz="2000" dirty="0">
                <a:latin typeface="Georgia" panose="02040502050405020303" pitchFamily="18" charset="0"/>
              </a:rPr>
              <a:t>Regulatory requirements (e.g., </a:t>
            </a:r>
            <a:r>
              <a:rPr lang="en-US" sz="2000" dirty="0" err="1">
                <a:latin typeface="Georgia" panose="02040502050405020303" pitchFamily="18" charset="0"/>
              </a:rPr>
              <a:t>WorkSafeBC</a:t>
            </a:r>
            <a:r>
              <a:rPr lang="en-US" sz="2000" dirty="0">
                <a:latin typeface="Georgia" panose="02040502050405020303" pitchFamily="18" charset="0"/>
              </a:rPr>
              <a:t> frameworks) </a:t>
            </a:r>
          </a:p>
          <a:p>
            <a:r>
              <a:rPr lang="en-US" sz="2000" dirty="0">
                <a:latin typeface="Georgia" panose="02040502050405020303" pitchFamily="18" charset="0"/>
              </a:rPr>
              <a:t>Many organizations use: </a:t>
            </a:r>
          </a:p>
          <a:p>
            <a:pPr lvl="1"/>
            <a:r>
              <a:rPr lang="en-US" sz="2000" dirty="0">
                <a:latin typeface="Georgia" panose="02040502050405020303" pitchFamily="18" charset="0"/>
              </a:rPr>
              <a:t>Paper-based logs </a:t>
            </a:r>
          </a:p>
          <a:p>
            <a:pPr lvl="1"/>
            <a:r>
              <a:rPr lang="en-US" sz="2000" dirty="0">
                <a:latin typeface="Georgia" panose="02040502050405020303" pitchFamily="18" charset="0"/>
              </a:rPr>
              <a:t>Fragmented digital tools </a:t>
            </a:r>
          </a:p>
          <a:p>
            <a:r>
              <a:rPr lang="en-US" sz="2000" dirty="0">
                <a:latin typeface="Georgia" panose="02040502050405020303" pitchFamily="18" charset="0"/>
              </a:rPr>
              <a:t>Result: </a:t>
            </a:r>
          </a:p>
          <a:p>
            <a:pPr lvl="1"/>
            <a:r>
              <a:rPr lang="en-US" sz="2000" dirty="0">
                <a:latin typeface="Georgia" panose="02040502050405020303" pitchFamily="18" charset="0"/>
              </a:rPr>
              <a:t>Delayed reporting </a:t>
            </a:r>
          </a:p>
          <a:p>
            <a:pPr lvl="1"/>
            <a:r>
              <a:rPr lang="en-US" sz="2000" dirty="0">
                <a:latin typeface="Georgia" panose="02040502050405020303" pitchFamily="18" charset="0"/>
              </a:rPr>
              <a:t>Poor data visibility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3999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8361D-87C0-BFED-E66D-D4BA1113E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574" y="3520000"/>
            <a:ext cx="5046196" cy="17958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Georgia Pro Semibold" panose="02040702050405020303" pitchFamily="18" charset="0"/>
              </a:rPr>
              <a:t>Research Context contd.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8CE6B4B-E67B-3DF5-5585-C06B9CD955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079" y="836639"/>
            <a:ext cx="2571808" cy="2223248"/>
          </a:xfrm>
          <a:prstGeom prst="rect">
            <a:avLst/>
          </a:prstGeom>
        </p:spPr>
      </p:pic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7BC0F8B1-F985-469B-8332-13DBC7665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1791963" y="451044"/>
            <a:ext cx="2308583" cy="2741196"/>
          </a:xfrm>
          <a:custGeom>
            <a:avLst/>
            <a:gdLst>
              <a:gd name="connsiteX0" fmla="*/ 2308583 w 2308583"/>
              <a:gd name="connsiteY0" fmla="*/ 2741196 h 2741196"/>
              <a:gd name="connsiteX1" fmla="*/ 462 w 2308583"/>
              <a:gd name="connsiteY1" fmla="*/ 2741196 h 2741196"/>
              <a:gd name="connsiteX2" fmla="*/ 0 w 2308583"/>
              <a:gd name="connsiteY2" fmla="*/ 2469337 h 2741196"/>
              <a:gd name="connsiteX3" fmla="*/ 2022607 w 2308583"/>
              <a:gd name="connsiteY3" fmla="*/ 2470269 h 2741196"/>
              <a:gd name="connsiteX4" fmla="*/ 2022607 w 2308583"/>
              <a:gd name="connsiteY4" fmla="*/ 0 h 2741196"/>
              <a:gd name="connsiteX5" fmla="*/ 2308583 w 2308583"/>
              <a:gd name="connsiteY5" fmla="*/ 0 h 2741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08583" h="2741196">
                <a:moveTo>
                  <a:pt x="2308583" y="2741196"/>
                </a:moveTo>
                <a:lnTo>
                  <a:pt x="462" y="2741196"/>
                </a:lnTo>
                <a:cubicBezTo>
                  <a:pt x="-462" y="2647366"/>
                  <a:pt x="923" y="2563167"/>
                  <a:pt x="0" y="2469337"/>
                </a:cubicBezTo>
                <a:lnTo>
                  <a:pt x="2022607" y="2470269"/>
                </a:lnTo>
                <a:lnTo>
                  <a:pt x="2022607" y="0"/>
                </a:lnTo>
                <a:lnTo>
                  <a:pt x="2308583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1CDF9E9-DA7E-9930-5B8E-883E1E2264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2326" y="781538"/>
            <a:ext cx="2392844" cy="23334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DA9124-90CE-D2AA-3007-231C664919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295" y="341645"/>
            <a:ext cx="4552828" cy="2741196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9D15953-1642-4DD6-AD9E-01AA19247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9466977" y="434000"/>
            <a:ext cx="2308583" cy="1114404"/>
          </a:xfrm>
          <a:custGeom>
            <a:avLst/>
            <a:gdLst>
              <a:gd name="connsiteX0" fmla="*/ 462 w 2308583"/>
              <a:gd name="connsiteY0" fmla="*/ 1114404 h 1114404"/>
              <a:gd name="connsiteX1" fmla="*/ 2308583 w 2308583"/>
              <a:gd name="connsiteY1" fmla="*/ 1114404 h 1114404"/>
              <a:gd name="connsiteX2" fmla="*/ 2308583 w 2308583"/>
              <a:gd name="connsiteY2" fmla="*/ 0 h 1114404"/>
              <a:gd name="connsiteX3" fmla="*/ 2022607 w 2308583"/>
              <a:gd name="connsiteY3" fmla="*/ 0 h 1114404"/>
              <a:gd name="connsiteX4" fmla="*/ 2022607 w 2308583"/>
              <a:gd name="connsiteY4" fmla="*/ 843477 h 1114404"/>
              <a:gd name="connsiteX5" fmla="*/ 0 w 2308583"/>
              <a:gd name="connsiteY5" fmla="*/ 842545 h 1114404"/>
              <a:gd name="connsiteX6" fmla="*/ 462 w 2308583"/>
              <a:gd name="connsiteY6" fmla="*/ 1114404 h 1114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8583" h="1114404">
                <a:moveTo>
                  <a:pt x="462" y="1114404"/>
                </a:moveTo>
                <a:lnTo>
                  <a:pt x="2308583" y="1114404"/>
                </a:lnTo>
                <a:lnTo>
                  <a:pt x="2308583" y="0"/>
                </a:lnTo>
                <a:lnTo>
                  <a:pt x="2022607" y="0"/>
                </a:lnTo>
                <a:lnTo>
                  <a:pt x="2022607" y="843477"/>
                </a:lnTo>
                <a:lnTo>
                  <a:pt x="0" y="842545"/>
                </a:lnTo>
                <a:cubicBezTo>
                  <a:pt x="923" y="936375"/>
                  <a:pt x="-462" y="1020574"/>
                  <a:pt x="462" y="1114404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  <a:alpha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918D9D3-1370-4FF6-9DFC-9F87F9039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14400" y="5377218"/>
            <a:ext cx="4387755" cy="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80FB6E49-9CE8-6F94-6AE3-83A4E7A8F4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1232" y="3443179"/>
            <a:ext cx="2016303" cy="29341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F81044-671B-E701-815E-1E051B6086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3491" y="3353734"/>
            <a:ext cx="2076079" cy="2722728"/>
          </a:xfrm>
          <a:prstGeom prst="rect">
            <a:avLst/>
          </a:prstGeom>
        </p:spPr>
      </p:pic>
      <p:sp>
        <p:nvSpPr>
          <p:cNvPr id="28" name="Freeform 6">
            <a:extLst>
              <a:ext uri="{FF2B5EF4-FFF2-40B4-BE49-F238E27FC236}">
                <a16:creationId xmlns:a16="http://schemas.microsoft.com/office/drawing/2014/main" id="{FBF3780C-749F-4B50-9E1D-F2B1F6DBB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8476833" y="2919002"/>
            <a:ext cx="2525072" cy="3398994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C38C27-5CD7-C071-AB90-A5D55F723CE7}"/>
              </a:ext>
            </a:extLst>
          </p:cNvPr>
          <p:cNvSpPr txBox="1"/>
          <p:nvPr/>
        </p:nvSpPr>
        <p:spPr>
          <a:xfrm>
            <a:off x="7775322" y="6424000"/>
            <a:ext cx="2845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Georgia" panose="02040502050405020303" pitchFamily="18" charset="0"/>
              </a:rPr>
              <a:t>Source – WorkSafe, BC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17CDC1-16AB-DA65-40A6-2238F3607B97}"/>
              </a:ext>
            </a:extLst>
          </p:cNvPr>
          <p:cNvSpPr txBox="1"/>
          <p:nvPr/>
        </p:nvSpPr>
        <p:spPr>
          <a:xfrm>
            <a:off x="4247295" y="3131162"/>
            <a:ext cx="4301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Georgia" panose="02040502050405020303" pitchFamily="18" charset="0"/>
              </a:rPr>
              <a:t>Source - Image generated by Gemini 3 Flash (Google), March 2026, from user-defined prompt.</a:t>
            </a:r>
            <a:endParaRPr lang="en-CA" sz="10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4765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FA1573-E77C-4E53-AAE1-EEC8A963B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405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sz="5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rgia Pro Semibold" panose="02040702050405020303" pitchFamily="18" charset="0"/>
              </a:rPr>
              <a:t>Problem Statement</a:t>
            </a:r>
            <a:endParaRPr lang="en-US" sz="5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0E22F89-795B-43D2-9D5D-615F2932F8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7874835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8390315B-B474-4497-991C-11B5DBF372DE}"/>
              </a:ext>
            </a:extLst>
          </p:cNvPr>
          <p:cNvSpPr/>
          <p:nvPr/>
        </p:nvSpPr>
        <p:spPr>
          <a:xfrm>
            <a:off x="0" y="0"/>
            <a:ext cx="290945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605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3E0F3A-023F-0C80-CD9C-4D4B84EF1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Novelty of </a:t>
            </a:r>
            <a:r>
              <a:rPr lang="en-C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SafeSight</a:t>
            </a:r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3329FE-06E7-8936-78A7-F46C0E57AE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5033682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17185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3B558-BDD4-403C-B15E-E7148DCAC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rgia Pro Semibold" panose="02040702050405020303" pitchFamily="18" charset="0"/>
              </a:rPr>
              <a:t>Methodology</a:t>
            </a: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1427FC-E0D9-4301-81D5-25B236CEBC47}"/>
              </a:ext>
            </a:extLst>
          </p:cNvPr>
          <p:cNvSpPr/>
          <p:nvPr/>
        </p:nvSpPr>
        <p:spPr>
          <a:xfrm>
            <a:off x="0" y="0"/>
            <a:ext cx="290945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8BD2D48-4905-B5F5-57F8-86B52C308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>
                <a:latin typeface="Georgia" panose="02040502050405020303" pitchFamily="18" charset="0"/>
              </a:rPr>
              <a:t>Research Design</a:t>
            </a:r>
            <a:endParaRPr lang="en-CA" dirty="0">
              <a:latin typeface="Georgia" panose="02040502050405020303" pitchFamily="18" charset="0"/>
            </a:endParaRPr>
          </a:p>
          <a:p>
            <a:pPr lvl="1"/>
            <a:r>
              <a:rPr lang="en-CA" dirty="0">
                <a:latin typeface="Georgia" panose="02040502050405020303" pitchFamily="18" charset="0"/>
              </a:rPr>
              <a:t>Mixed-Methods Approach </a:t>
            </a:r>
          </a:p>
          <a:p>
            <a:pPr lvl="1"/>
            <a:r>
              <a:rPr lang="en-CA" dirty="0">
                <a:latin typeface="Georgia" panose="02040502050405020303" pitchFamily="18" charset="0"/>
              </a:rPr>
              <a:t>Applied Design Research (ADR) </a:t>
            </a:r>
          </a:p>
          <a:p>
            <a:pPr lvl="1"/>
            <a:r>
              <a:rPr lang="en-CA" dirty="0">
                <a:latin typeface="Georgia" panose="02040502050405020303" pitchFamily="18" charset="0"/>
              </a:rPr>
              <a:t>Evolutionary Prototyping Model </a:t>
            </a:r>
          </a:p>
          <a:p>
            <a:endParaRPr lang="en-CA" dirty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en-CA" b="1" dirty="0">
                <a:latin typeface="Georgia" panose="02040502050405020303" pitchFamily="18" charset="0"/>
              </a:rPr>
              <a:t>Evaluation</a:t>
            </a:r>
          </a:p>
          <a:p>
            <a:pPr lvl="1"/>
            <a:r>
              <a:rPr lang="en-CA" dirty="0">
                <a:latin typeface="Georgia" panose="02040502050405020303" pitchFamily="18" charset="0"/>
              </a:rPr>
              <a:t>Quantitative → Time efficiency </a:t>
            </a:r>
          </a:p>
          <a:p>
            <a:pPr lvl="1"/>
            <a:r>
              <a:rPr lang="en-CA" dirty="0">
                <a:latin typeface="Georgia" panose="02040502050405020303" pitchFamily="18" charset="0"/>
              </a:rPr>
              <a:t>Qualitative → User Acceptance (TAM model)</a:t>
            </a:r>
          </a:p>
        </p:txBody>
      </p:sp>
    </p:spTree>
    <p:extLst>
      <p:ext uri="{BB962C8B-B14F-4D97-AF65-F5344CB8AC3E}">
        <p14:creationId xmlns:p14="http://schemas.microsoft.com/office/powerpoint/2010/main" val="3122544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284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0A8117-8037-7F5F-97C1-7B2D166162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930" y="643467"/>
            <a:ext cx="10222139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953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40E93D9-F13F-4097-A159-E0A6CEBA8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34A563-1724-28B4-5856-03A75ED5C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916" y="444464"/>
            <a:ext cx="3420305" cy="1906317"/>
          </a:xfrm>
        </p:spPr>
        <p:txBody>
          <a:bodyPr>
            <a:normAutofit/>
          </a:bodyPr>
          <a:lstStyle/>
          <a:p>
            <a:pPr algn="ctr"/>
            <a:r>
              <a:rPr lang="en-US" sz="2800">
                <a:latin typeface="Georgia Pro Semibold" panose="02040702050405020303" pitchFamily="18" charset="0"/>
              </a:rPr>
              <a:t>Introducing SafeSight: The Future of Proactive Safety</a:t>
            </a:r>
            <a:endParaRPr lang="en-CA" sz="2800">
              <a:latin typeface="Georgia Pro Semibold" panose="02040702050405020303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841B52-D675-3436-3E77-08CE25C1F8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4421"/>
          <a:stretch>
            <a:fillRect/>
          </a:stretch>
        </p:blipFill>
        <p:spPr>
          <a:xfrm>
            <a:off x="20" y="2768743"/>
            <a:ext cx="4278264" cy="408925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A3D150B-ADB5-401D-8304-C7845A1095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768743"/>
            <a:ext cx="4310288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91E30-4F4F-F75A-C573-F6E2BF1F2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4659" y="0"/>
            <a:ext cx="6601767" cy="6858000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002060"/>
                </a:solidFill>
                <a:highlight>
                  <a:srgbClr val="C0C0C0"/>
                </a:highlight>
                <a:latin typeface="Georgia" panose="02040502050405020303" pitchFamily="18" charset="0"/>
              </a:rPr>
              <a:t>The</a:t>
            </a:r>
            <a:r>
              <a:rPr lang="en-US" sz="1600" b="1" dirty="0">
                <a:highlight>
                  <a:srgbClr val="C0C0C0"/>
                </a:highlight>
                <a:latin typeface="Georgia" panose="02040502050405020303" pitchFamily="18" charset="0"/>
              </a:rPr>
              <a:t> </a:t>
            </a:r>
            <a:r>
              <a:rPr lang="en-US" sz="1600" b="1" dirty="0">
                <a:solidFill>
                  <a:srgbClr val="002060"/>
                </a:solidFill>
                <a:highlight>
                  <a:srgbClr val="C0C0C0"/>
                </a:highlight>
                <a:latin typeface="Georgia" panose="02040502050405020303" pitchFamily="18" charset="0"/>
              </a:rPr>
              <a:t>Vision</a:t>
            </a:r>
            <a:r>
              <a:rPr lang="en-US" sz="1600" b="1" dirty="0">
                <a:highlight>
                  <a:srgbClr val="C0C0C0"/>
                </a:highlight>
                <a:latin typeface="Georgia" panose="02040502050405020303" pitchFamily="18" charset="0"/>
              </a:rPr>
              <a:t>: </a:t>
            </a:r>
            <a:r>
              <a:rPr lang="en-US" sz="1600" b="1" dirty="0">
                <a:solidFill>
                  <a:srgbClr val="002060"/>
                </a:solidFill>
                <a:highlight>
                  <a:srgbClr val="C0C0C0"/>
                </a:highlight>
                <a:latin typeface="Georgia" panose="02040502050405020303" pitchFamily="18" charset="0"/>
              </a:rPr>
              <a:t>From</a:t>
            </a:r>
            <a:r>
              <a:rPr lang="en-US" sz="1600" b="1" dirty="0">
                <a:highlight>
                  <a:srgbClr val="C0C0C0"/>
                </a:highlight>
                <a:latin typeface="Georgia" panose="02040502050405020303" pitchFamily="18" charset="0"/>
              </a:rPr>
              <a:t> </a:t>
            </a:r>
            <a:r>
              <a:rPr lang="en-US" sz="1600" b="1" dirty="0">
                <a:solidFill>
                  <a:srgbClr val="002060"/>
                </a:solidFill>
                <a:highlight>
                  <a:srgbClr val="C0C0C0"/>
                </a:highlight>
                <a:latin typeface="Georgia" panose="02040502050405020303" pitchFamily="18" charset="0"/>
              </a:rPr>
              <a:t>Hindsight</a:t>
            </a:r>
            <a:r>
              <a:rPr lang="en-US" sz="1600" b="1" dirty="0">
                <a:highlight>
                  <a:srgbClr val="C0C0C0"/>
                </a:highlight>
                <a:latin typeface="Georgia" panose="02040502050405020303" pitchFamily="18" charset="0"/>
              </a:rPr>
              <a:t> </a:t>
            </a:r>
            <a:r>
              <a:rPr lang="en-US" sz="1600" b="1" dirty="0">
                <a:solidFill>
                  <a:srgbClr val="002060"/>
                </a:solidFill>
                <a:highlight>
                  <a:srgbClr val="C0C0C0"/>
                </a:highlight>
                <a:latin typeface="Georgia" panose="02040502050405020303" pitchFamily="18" charset="0"/>
              </a:rPr>
              <a:t>to</a:t>
            </a:r>
            <a:r>
              <a:rPr lang="en-US" sz="1600" b="1" dirty="0">
                <a:highlight>
                  <a:srgbClr val="C0C0C0"/>
                </a:highlight>
                <a:latin typeface="Georgia" panose="02040502050405020303" pitchFamily="18" charset="0"/>
              </a:rPr>
              <a:t> </a:t>
            </a:r>
            <a:r>
              <a:rPr lang="en-US" sz="1600" b="1" dirty="0">
                <a:solidFill>
                  <a:srgbClr val="002060"/>
                </a:solidFill>
                <a:highlight>
                  <a:srgbClr val="C0C0C0"/>
                </a:highlight>
                <a:latin typeface="Georgia" panose="02040502050405020303" pitchFamily="18" charset="0"/>
              </a:rPr>
              <a:t>Foresight</a:t>
            </a:r>
          </a:p>
          <a:p>
            <a:pPr marL="0" indent="0" algn="just">
              <a:buNone/>
            </a:pPr>
            <a:r>
              <a:rPr lang="en-US" sz="1600" b="1" dirty="0">
                <a:latin typeface="Georgia" panose="02040502050405020303" pitchFamily="18" charset="0"/>
              </a:rPr>
              <a:t>Strategic Shift</a:t>
            </a:r>
            <a:r>
              <a:rPr lang="en-US" sz="1600" dirty="0">
                <a:latin typeface="Georgia" panose="02040502050405020303" pitchFamily="18" charset="0"/>
              </a:rPr>
              <a:t>: </a:t>
            </a:r>
            <a:r>
              <a:rPr lang="en-US" sz="1600" dirty="0" err="1">
                <a:latin typeface="Georgia" panose="02040502050405020303" pitchFamily="18" charset="0"/>
              </a:rPr>
              <a:t>SafeSight</a:t>
            </a:r>
            <a:r>
              <a:rPr lang="en-US" sz="1600" dirty="0">
                <a:latin typeface="Georgia" panose="02040502050405020303" pitchFamily="18" charset="0"/>
              </a:rPr>
              <a:t> is a full-stack, role-based safety platform designed to transition organizations from reactive reporting to proactive prevention.</a:t>
            </a:r>
          </a:p>
          <a:p>
            <a:pPr marL="0" indent="0" algn="just">
              <a:buNone/>
            </a:pPr>
            <a:r>
              <a:rPr lang="en-US" sz="1600" b="1" dirty="0">
                <a:latin typeface="Georgia" panose="02040502050405020303" pitchFamily="18" charset="0"/>
              </a:rPr>
              <a:t>Integrated Ecosystem: </a:t>
            </a:r>
            <a:r>
              <a:rPr lang="en-US" sz="1600" dirty="0">
                <a:latin typeface="Georgia" panose="02040502050405020303" pitchFamily="18" charset="0"/>
              </a:rPr>
              <a:t>By digitizing incident management and providing real-time visibility, it bridges the critical "Information Gap" in high-pressure environments.</a:t>
            </a:r>
          </a:p>
          <a:p>
            <a:pPr marL="0" indent="0" algn="just">
              <a:buNone/>
            </a:pPr>
            <a:endParaRPr lang="en-US" sz="1600" dirty="0">
              <a:latin typeface="Georgia" panose="02040502050405020303" pitchFamily="18" charset="0"/>
            </a:endParaRPr>
          </a:p>
          <a:p>
            <a:pPr marL="0" indent="0" algn="just">
              <a:buNone/>
            </a:pPr>
            <a:r>
              <a:rPr lang="en-US" sz="1600" b="1" dirty="0">
                <a:solidFill>
                  <a:srgbClr val="002060"/>
                </a:solidFill>
                <a:highlight>
                  <a:srgbClr val="C0C0C0"/>
                </a:highlight>
                <a:latin typeface="Georgia" panose="02040502050405020303" pitchFamily="18" charset="0"/>
              </a:rPr>
              <a:t>Core</a:t>
            </a:r>
            <a:r>
              <a:rPr lang="en-US" sz="1600" b="1" dirty="0">
                <a:highlight>
                  <a:srgbClr val="C0C0C0"/>
                </a:highlight>
                <a:latin typeface="Georgia" panose="02040502050405020303" pitchFamily="18" charset="0"/>
              </a:rPr>
              <a:t> </a:t>
            </a:r>
            <a:r>
              <a:rPr lang="en-US" sz="1600" b="1" dirty="0">
                <a:solidFill>
                  <a:srgbClr val="002060"/>
                </a:solidFill>
                <a:highlight>
                  <a:srgbClr val="C0C0C0"/>
                </a:highlight>
                <a:latin typeface="Georgia" panose="02040502050405020303" pitchFamily="18" charset="0"/>
              </a:rPr>
              <a:t>Pillars</a:t>
            </a:r>
            <a:r>
              <a:rPr lang="en-US" sz="1600" b="1" dirty="0">
                <a:highlight>
                  <a:srgbClr val="C0C0C0"/>
                </a:highlight>
                <a:latin typeface="Georgia" panose="02040502050405020303" pitchFamily="18" charset="0"/>
              </a:rPr>
              <a:t> </a:t>
            </a:r>
            <a:r>
              <a:rPr lang="en-US" sz="1600" b="1" dirty="0">
                <a:solidFill>
                  <a:srgbClr val="002060"/>
                </a:solidFill>
                <a:highlight>
                  <a:srgbClr val="C0C0C0"/>
                </a:highlight>
                <a:latin typeface="Georgia" panose="02040502050405020303" pitchFamily="18" charset="0"/>
              </a:rPr>
              <a:t>of</a:t>
            </a:r>
            <a:r>
              <a:rPr lang="en-US" sz="1600" b="1" dirty="0">
                <a:highlight>
                  <a:srgbClr val="C0C0C0"/>
                </a:highlight>
                <a:latin typeface="Georgia" panose="02040502050405020303" pitchFamily="18" charset="0"/>
              </a:rPr>
              <a:t> </a:t>
            </a:r>
            <a:r>
              <a:rPr lang="en-US" sz="1600" b="1" dirty="0">
                <a:solidFill>
                  <a:srgbClr val="002060"/>
                </a:solidFill>
                <a:highlight>
                  <a:srgbClr val="C0C0C0"/>
                </a:highlight>
                <a:latin typeface="Georgia" panose="02040502050405020303" pitchFamily="18" charset="0"/>
              </a:rPr>
              <a:t>the</a:t>
            </a:r>
            <a:r>
              <a:rPr lang="en-US" sz="1600" b="1" dirty="0">
                <a:highlight>
                  <a:srgbClr val="C0C0C0"/>
                </a:highlight>
                <a:latin typeface="Georgia" panose="02040502050405020303" pitchFamily="18" charset="0"/>
              </a:rPr>
              <a:t> </a:t>
            </a:r>
            <a:r>
              <a:rPr lang="en-US" sz="1600" b="1" dirty="0">
                <a:solidFill>
                  <a:srgbClr val="002060"/>
                </a:solidFill>
                <a:highlight>
                  <a:srgbClr val="C0C0C0"/>
                </a:highlight>
                <a:latin typeface="Georgia" panose="02040502050405020303" pitchFamily="18" charset="0"/>
              </a:rPr>
              <a:t>Platform</a:t>
            </a:r>
          </a:p>
          <a:p>
            <a:pPr marL="0" indent="0" algn="just">
              <a:buNone/>
            </a:pPr>
            <a:r>
              <a:rPr lang="en-US" sz="1600" b="1" dirty="0">
                <a:latin typeface="Georgia" panose="02040502050405020303" pitchFamily="18" charset="0"/>
              </a:rPr>
              <a:t>Real-Time Reporting: </a:t>
            </a:r>
            <a:r>
              <a:rPr lang="en-US" sz="1600" dirty="0">
                <a:latin typeface="Georgia" panose="02040502050405020303" pitchFamily="18" charset="0"/>
              </a:rPr>
              <a:t>A streamlined portal that reduces the time between an incident and management notification by an estimated 70%.</a:t>
            </a:r>
          </a:p>
          <a:p>
            <a:pPr marL="0" indent="0" algn="just">
              <a:buNone/>
            </a:pPr>
            <a:r>
              <a:rPr lang="en-US" sz="1600" b="1" dirty="0">
                <a:latin typeface="Georgia" panose="02040502050405020303" pitchFamily="18" charset="0"/>
              </a:rPr>
              <a:t>Role-Based Intelligence: </a:t>
            </a:r>
            <a:r>
              <a:rPr lang="en-US" sz="1600" dirty="0">
                <a:latin typeface="Georgia" panose="02040502050405020303" pitchFamily="18" charset="0"/>
              </a:rPr>
              <a:t>Tailored dashboards for HR Personnel (compliance-focused) and Department Managers (hazard-focused).</a:t>
            </a:r>
          </a:p>
          <a:p>
            <a:pPr marL="0" indent="0" algn="just">
              <a:buNone/>
            </a:pPr>
            <a:r>
              <a:rPr lang="en-US" sz="1600" b="1" dirty="0">
                <a:latin typeface="Georgia" panose="02040502050405020303" pitchFamily="18" charset="0"/>
              </a:rPr>
              <a:t>Predictive Analytics: </a:t>
            </a:r>
            <a:r>
              <a:rPr lang="en-US" sz="1600" dirty="0">
                <a:latin typeface="Georgia" panose="02040502050405020303" pitchFamily="18" charset="0"/>
              </a:rPr>
              <a:t>An advanced engine using regression models to forecast "hotspots" before accidents recur.</a:t>
            </a:r>
          </a:p>
          <a:p>
            <a:pPr marL="0" indent="0" algn="just">
              <a:buNone/>
            </a:pPr>
            <a:endParaRPr lang="en-US" sz="1600" dirty="0">
              <a:latin typeface="Georgia" panose="02040502050405020303" pitchFamily="18" charset="0"/>
            </a:endParaRPr>
          </a:p>
          <a:p>
            <a:pPr marL="0" indent="0" algn="just">
              <a:buNone/>
            </a:pPr>
            <a:r>
              <a:rPr lang="en-US" sz="1600" b="1" dirty="0">
                <a:solidFill>
                  <a:srgbClr val="002060"/>
                </a:solidFill>
                <a:highlight>
                  <a:srgbClr val="C0C0C0"/>
                </a:highlight>
                <a:latin typeface="Georgia" panose="02040502050405020303" pitchFamily="18" charset="0"/>
              </a:rPr>
              <a:t>Regulatory</a:t>
            </a:r>
            <a:r>
              <a:rPr lang="en-US" sz="1600" b="1" dirty="0">
                <a:highlight>
                  <a:srgbClr val="C0C0C0"/>
                </a:highlight>
                <a:latin typeface="Georgia" panose="02040502050405020303" pitchFamily="18" charset="0"/>
              </a:rPr>
              <a:t> </a:t>
            </a:r>
            <a:r>
              <a:rPr lang="en-US" sz="1600" b="1" dirty="0">
                <a:solidFill>
                  <a:srgbClr val="002060"/>
                </a:solidFill>
                <a:highlight>
                  <a:srgbClr val="C0C0C0"/>
                </a:highlight>
                <a:latin typeface="Georgia" panose="02040502050405020303" pitchFamily="18" charset="0"/>
              </a:rPr>
              <a:t>Excellence</a:t>
            </a:r>
          </a:p>
          <a:p>
            <a:pPr marL="0" indent="0" algn="just">
              <a:buNone/>
            </a:pPr>
            <a:r>
              <a:rPr lang="en-US" sz="1600" b="1" dirty="0" err="1">
                <a:latin typeface="Georgia" panose="02040502050405020303" pitchFamily="18" charset="0"/>
              </a:rPr>
              <a:t>WorkSafeBC</a:t>
            </a:r>
            <a:r>
              <a:rPr lang="en-US" sz="1600" b="1" dirty="0">
                <a:latin typeface="Georgia" panose="02040502050405020303" pitchFamily="18" charset="0"/>
              </a:rPr>
              <a:t> Automation: </a:t>
            </a:r>
            <a:r>
              <a:rPr lang="en-US" sz="1600" dirty="0">
                <a:latin typeface="Georgia" panose="02040502050405020303" pitchFamily="18" charset="0"/>
              </a:rPr>
              <a:t>Features an automated engine that maps internal data directly onto mandatory legal templates, such as Form 7 and form </a:t>
            </a:r>
            <a:r>
              <a:rPr lang="en-CA" sz="1600" dirty="0">
                <a:latin typeface="Georgia" panose="02040502050405020303" pitchFamily="18" charset="0"/>
              </a:rPr>
              <a:t>52E40</a:t>
            </a:r>
            <a:endParaRPr lang="en-US" sz="1600" dirty="0">
              <a:latin typeface="Georgia" panose="02040502050405020303" pitchFamily="18" charset="0"/>
            </a:endParaRPr>
          </a:p>
          <a:p>
            <a:pPr marL="0" indent="0" algn="just">
              <a:buNone/>
            </a:pPr>
            <a:r>
              <a:rPr lang="en-US" sz="1600" b="1" dirty="0">
                <a:latin typeface="Georgia" panose="02040502050405020303" pitchFamily="18" charset="0"/>
              </a:rPr>
              <a:t>Administrative Relief: </a:t>
            </a:r>
            <a:r>
              <a:rPr lang="en-US" sz="1600" dirty="0">
                <a:latin typeface="Georgia" panose="02040502050405020303" pitchFamily="18" charset="0"/>
              </a:rPr>
              <a:t>Aims to reduce the compliance burden by 50%, allowing managers to focus on staff safety rather than paperwork. </a:t>
            </a:r>
            <a:endParaRPr lang="en-CA" sz="1600" dirty="0">
              <a:latin typeface="Georgia" panose="02040502050405020303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D3AB31-A71C-4414-BA05-CF667CBA3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5909" y="3396995"/>
            <a:ext cx="6858002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9353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DEDCC5D-8B8A-40DB-BE90-A3AA27C64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FFEE44-5F86-B39D-BADE-6304A633F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964" y="816049"/>
            <a:ext cx="9849751" cy="1012751"/>
          </a:xfrm>
        </p:spPr>
        <p:txBody>
          <a:bodyPr anchor="b">
            <a:normAutofit fontScale="90000"/>
          </a:bodyPr>
          <a:lstStyle/>
          <a:p>
            <a:r>
              <a:rPr lang="en-CA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Full-Stack Framework &amp; Tech Stack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89DAB79-0620-D7F9-BC00-5BE4848B0D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5783305"/>
              </p:ext>
            </p:extLst>
          </p:nvPr>
        </p:nvGraphicFramePr>
        <p:xfrm>
          <a:off x="1462630" y="1808834"/>
          <a:ext cx="9266739" cy="4353435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905801">
                  <a:extLst>
                    <a:ext uri="{9D8B030D-6E8A-4147-A177-3AD203B41FA5}">
                      <a16:colId xmlns:a16="http://schemas.microsoft.com/office/drawing/2014/main" val="3310383818"/>
                    </a:ext>
                  </a:extLst>
                </a:gridCol>
                <a:gridCol w="3219938">
                  <a:extLst>
                    <a:ext uri="{9D8B030D-6E8A-4147-A177-3AD203B41FA5}">
                      <a16:colId xmlns:a16="http://schemas.microsoft.com/office/drawing/2014/main" val="1764302997"/>
                    </a:ext>
                  </a:extLst>
                </a:gridCol>
                <a:gridCol w="4141000">
                  <a:extLst>
                    <a:ext uri="{9D8B030D-6E8A-4147-A177-3AD203B41FA5}">
                      <a16:colId xmlns:a16="http://schemas.microsoft.com/office/drawing/2014/main" val="1782871413"/>
                    </a:ext>
                  </a:extLst>
                </a:gridCol>
              </a:tblGrid>
              <a:tr h="32232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CA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Layer</a:t>
                      </a:r>
                      <a:endParaRPr lang="en-CA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CA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  <a:endParaRPr lang="en-CA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CA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 / Description</a:t>
                      </a:r>
                      <a:endParaRPr lang="en-CA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3321548383"/>
                  </a:ext>
                </a:extLst>
              </a:tr>
              <a:tr h="80580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CA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React.js (SPA), Recharts, HTML, CSS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Builds an interactive single-page application with data visualization and modern UI styling.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4022162702"/>
                  </a:ext>
                </a:extLst>
              </a:tr>
              <a:tr h="80580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CA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CA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Node.js &amp; Express.js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RESTful API architecture for handling client-server communication.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184989837"/>
                  </a:ext>
                </a:extLst>
              </a:tr>
              <a:tr h="80580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CA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CA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MySQL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Ensures structured relational data storage with ACID compliance and strong data integrity.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1259343737"/>
                  </a:ext>
                </a:extLst>
              </a:tr>
              <a:tr h="80580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CA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Service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CA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(Scikit-Learn, Pandas)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Powers machine learning predictions using Random Forest and handles data processing.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1240806242"/>
                  </a:ext>
                </a:extLst>
              </a:tr>
              <a:tr h="80580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CA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Automation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CA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pdfkit, ExcelJS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dynamic generation of compliance reports in PDF and Excel formats.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5882543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0020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D3747C-AA14-56D1-92EB-BA81424EC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 Architecture (The User Journey)</a:t>
            </a:r>
            <a:endParaRPr lang="en-CA" sz="4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03B3D7C-D99B-CEBC-B168-ADCA17550A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88966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9235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E472F6-4A7F-053F-6389-9DB2EDD55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CA" sz="4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Model &amp; Intelligence</a:t>
            </a:r>
          </a:p>
        </p:txBody>
      </p:sp>
      <p:graphicFrame>
        <p:nvGraphicFramePr>
          <p:cNvPr id="26" name="Rectangle 1">
            <a:extLst>
              <a:ext uri="{FF2B5EF4-FFF2-40B4-BE49-F238E27FC236}">
                <a16:creationId xmlns:a16="http://schemas.microsoft.com/office/drawing/2014/main" id="{D5484E81-37AC-4E12-922E-32A7B0E188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543743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5922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F3D352-85C6-D69A-83D8-858F55100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855" y="3066821"/>
            <a:ext cx="6009366" cy="145970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3600" kern="1200" dirty="0">
                <a:solidFill>
                  <a:schemeClr val="tx1"/>
                </a:solidFill>
                <a:latin typeface="Georgia Pro Black" panose="02040A02050405020203" pitchFamily="18" charset="0"/>
              </a:rPr>
              <a:t>DEMONSTRATION</a:t>
            </a:r>
            <a:endParaRPr lang="en-US" sz="4200" kern="1200" dirty="0">
              <a:solidFill>
                <a:schemeClr val="tx1"/>
              </a:solidFill>
              <a:latin typeface="Georgia Pro Black" panose="02040A02050405020203" pitchFamily="18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C371CD-90E1-9623-7E57-37E01EE309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7597" y="666728"/>
            <a:ext cx="5465791" cy="546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082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113021-3D80-4DA7-80E3-79F912D9E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>
                <a:latin typeface="Georgia Pro Semibold" panose="02040702050405020303" pitchFamily="18" charset="0"/>
              </a:rPr>
              <a:t>Results: From Data to Safety Intelligence</a:t>
            </a:r>
            <a:endParaRPr lang="en-CA" sz="4800" dirty="0">
              <a:latin typeface="Georgia Pro Semibold" panose="020407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58498-52EE-1F58-FB41-6EF05426A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Georgia" panose="02040502050405020303" pitchFamily="18" charset="0"/>
              </a:rPr>
              <a:t>What </a:t>
            </a:r>
            <a:r>
              <a:rPr lang="en-US" sz="2400" b="1" dirty="0" err="1">
                <a:latin typeface="Georgia" panose="02040502050405020303" pitchFamily="18" charset="0"/>
              </a:rPr>
              <a:t>SafeSight</a:t>
            </a:r>
            <a:r>
              <a:rPr lang="en-US" sz="2400" b="1" dirty="0">
                <a:latin typeface="Georgia" panose="02040502050405020303" pitchFamily="18" charset="0"/>
              </a:rPr>
              <a:t> Achieves</a:t>
            </a:r>
            <a:endParaRPr lang="en-US" sz="2400" dirty="0">
              <a:latin typeface="Georgia" panose="02040502050405020303" pitchFamily="18" charset="0"/>
            </a:endParaRPr>
          </a:p>
          <a:p>
            <a:r>
              <a:rPr lang="en-US" sz="2400" dirty="0">
                <a:latin typeface="Georgia" panose="02040502050405020303" pitchFamily="18" charset="0"/>
              </a:rPr>
              <a:t>⏱ Faster reporting (up to 70% improvement) </a:t>
            </a:r>
          </a:p>
          <a:p>
            <a:r>
              <a:rPr lang="en-US" sz="2400" dirty="0">
                <a:latin typeface="Georgia" panose="02040502050405020303" pitchFamily="18" charset="0"/>
              </a:rPr>
              <a:t>📉 Reduced errors in compliance reports </a:t>
            </a:r>
          </a:p>
          <a:p>
            <a:r>
              <a:rPr lang="en-US" sz="2400" dirty="0">
                <a:latin typeface="Georgia" panose="02040502050405020303" pitchFamily="18" charset="0"/>
              </a:rPr>
              <a:t>🔍 Identification of high-risk zones </a:t>
            </a:r>
          </a:p>
          <a:p>
            <a:r>
              <a:rPr lang="en-US" sz="2400" dirty="0">
                <a:latin typeface="Georgia" panose="02040502050405020303" pitchFamily="18" charset="0"/>
              </a:rPr>
              <a:t>📊 Data-driven decision-making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86137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3332DB-B677-0C27-049C-3DDD86338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CA" sz="4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&amp; Utility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698882D-E9D0-1DCD-5A91-60A974BE5B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2318197"/>
            <a:ext cx="9724031" cy="36833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Technique: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User Acceptance Testing (UAT) and Comparative Benchmarking.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Stakeholder Feedback Impact: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Pivot: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Transformed raw scores into "Strategic Actions."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60% improvement in incident triage efficiency during mock trials.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Reliability: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Implemented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Defensive Analysis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account for class imbalance (Stable vs. High Risk).</a:t>
            </a:r>
          </a:p>
        </p:txBody>
      </p:sp>
    </p:spTree>
    <p:extLst>
      <p:ext uri="{BB962C8B-B14F-4D97-AF65-F5344CB8AC3E}">
        <p14:creationId xmlns:p14="http://schemas.microsoft.com/office/powerpoint/2010/main" val="34067905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8BEA9-399F-4297-801C-64BA58BF1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kern="1200" dirty="0">
                <a:latin typeface="Georgia Pro Semibold" panose="02040702050405020303" pitchFamily="18" charset="0"/>
              </a:rPr>
              <a:t>Discussion and Implications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43B8F-57E1-4A77-856E-97C074BC8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Georgia" panose="02040502050405020303" pitchFamily="18" charset="0"/>
              </a:rPr>
              <a:t>Why This Matters</a:t>
            </a:r>
            <a:endParaRPr lang="en-US" dirty="0">
              <a:latin typeface="Georgia" panose="02040502050405020303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Georgia" panose="02040502050405020303" pitchFamily="18" charset="0"/>
              </a:rPr>
              <a:t>For HR: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Better compliance 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Reduced liability </a:t>
            </a:r>
          </a:p>
          <a:p>
            <a:pPr marL="0" indent="0">
              <a:buNone/>
            </a:pPr>
            <a:endParaRPr lang="en-US" dirty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en-US" dirty="0">
                <a:latin typeface="Georgia" panose="02040502050405020303" pitchFamily="18" charset="0"/>
              </a:rPr>
              <a:t>For Managers: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Less admin work 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Smarter decisions </a:t>
            </a:r>
          </a:p>
          <a:p>
            <a:pPr marL="0" indent="0">
              <a:buNone/>
            </a:pPr>
            <a:endParaRPr lang="en-US" dirty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en-US" dirty="0">
                <a:latin typeface="Georgia" panose="02040502050405020303" pitchFamily="18" charset="0"/>
              </a:rPr>
              <a:t>For Industry: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Improved employee safety 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Cost reduction 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Stronger employer branding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58A37"/>
              </a:buClr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BB1696-84C5-4874-A334-906309629347}"/>
              </a:ext>
            </a:extLst>
          </p:cNvPr>
          <p:cNvSpPr/>
          <p:nvPr/>
        </p:nvSpPr>
        <p:spPr>
          <a:xfrm>
            <a:off x="0" y="0"/>
            <a:ext cx="290945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6500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06345B-879F-EEF3-E01D-87EE7E353C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56" y="457200"/>
            <a:ext cx="10905687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7434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BD7469-3B51-023F-CD7C-E40C74899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CA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CF99A-47DE-6E74-9790-FFFBD0085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2783394"/>
            <a:ext cx="9941319" cy="3358786"/>
          </a:xfrm>
        </p:spPr>
        <p:txBody>
          <a:bodyPr anchor="ctr">
            <a:normAutofit/>
          </a:bodyPr>
          <a:lstStyle/>
          <a:p>
            <a:pPr algn="just"/>
            <a:r>
              <a:rPr lang="en-US" sz="1900" dirty="0">
                <a:latin typeface="Georgia" panose="02040502050405020303" pitchFamily="18" charset="0"/>
              </a:rPr>
              <a:t>Data Imbalance: Balancing a model where 90% of days are "Safe" required moving beyond standard accuracy metrics.</a:t>
            </a:r>
          </a:p>
          <a:p>
            <a:pPr algn="just"/>
            <a:r>
              <a:rPr lang="en-US" sz="1900" dirty="0">
                <a:latin typeface="Georgia" panose="02040502050405020303" pitchFamily="18" charset="0"/>
              </a:rPr>
              <a:t>Microservice Decoupling: Managing asynchronous communication between the Node.js backend and Python AI engine.</a:t>
            </a:r>
          </a:p>
          <a:p>
            <a:pPr algn="just"/>
            <a:r>
              <a:rPr lang="en-US" sz="1900" dirty="0">
                <a:latin typeface="Georgia" panose="02040502050405020303" pitchFamily="18" charset="0"/>
              </a:rPr>
              <a:t>Validation Logic: Ensuring "Zero Null" data entries via checkFields.js to maintain ML model health.</a:t>
            </a:r>
            <a:endParaRPr lang="en-CA" sz="1900" dirty="0">
              <a:latin typeface="Georgia" panose="02040502050405020303" pitchFamily="18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22046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FC592A-C6AA-89DD-35C9-5B36AF222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CA" sz="4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Lessons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EB1E2-5F09-7C30-B8AE-428669E90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Utility over Complexity: Stakeholders value clear instructions (Prescriptive Actions) more than complex statistical probabilities.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Data = Accurate AI: The importance of strict SQL schemas in ensuring the quality of machine learning outputs.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Design: How a decoupled architecture simplifies troubleshooting and allows for enterprise scalability.</a:t>
            </a:r>
            <a:endParaRPr lang="en-C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45539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EBBF5-0FCB-421D-9B1A-87E6FD665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Conclusion: The New Standard for Workplace Safety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32309-DD67-4203-B80A-1D896CFB5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buClr>
                <a:srgbClr val="358A37"/>
              </a:buClr>
            </a:pPr>
            <a:r>
              <a:rPr lang="en-US" b="1" dirty="0">
                <a:latin typeface="Georgia" panose="02040502050405020303" pitchFamily="18" charset="0"/>
              </a:rPr>
              <a:t>From Reactive to Proactive: </a:t>
            </a:r>
            <a:r>
              <a:rPr lang="en-US" dirty="0" err="1">
                <a:latin typeface="Georgia" panose="02040502050405020303" pitchFamily="18" charset="0"/>
              </a:rPr>
              <a:t>SafeSight</a:t>
            </a:r>
            <a:r>
              <a:rPr lang="en-US" dirty="0">
                <a:latin typeface="Georgia" panose="02040502050405020303" pitchFamily="18" charset="0"/>
              </a:rPr>
              <a:t> successfully bridges the "Analytical Gap" by transforming 478 historical records into leading indicators for risk prevention.</a:t>
            </a:r>
          </a:p>
          <a:p>
            <a:pPr algn="just">
              <a:buClr>
                <a:srgbClr val="358A37"/>
              </a:buClr>
            </a:pPr>
            <a:r>
              <a:rPr lang="en-US" b="1" dirty="0">
                <a:latin typeface="Georgia" panose="02040502050405020303" pitchFamily="18" charset="0"/>
              </a:rPr>
              <a:t>Operational Excellence:</a:t>
            </a:r>
            <a:r>
              <a:rPr lang="en-US" dirty="0">
                <a:latin typeface="Georgia" panose="02040502050405020303" pitchFamily="18" charset="0"/>
              </a:rPr>
              <a:t> The system achieves a 70% reduction in reporting latency, ensuring that </a:t>
            </a:r>
            <a:r>
              <a:rPr lang="en-US" dirty="0" err="1">
                <a:latin typeface="Georgia" panose="02040502050405020303" pitchFamily="18" charset="0"/>
              </a:rPr>
              <a:t>WorkSafeBC</a:t>
            </a:r>
            <a:r>
              <a:rPr lang="en-US" dirty="0">
                <a:latin typeface="Georgia" panose="02040502050405020303" pitchFamily="18" charset="0"/>
              </a:rPr>
              <a:t> compliance is a seamless part of the hospitality workflow.</a:t>
            </a:r>
          </a:p>
          <a:p>
            <a:pPr algn="just">
              <a:buClr>
                <a:srgbClr val="358A37"/>
              </a:buClr>
            </a:pPr>
            <a:r>
              <a:rPr lang="en-US" b="1" dirty="0">
                <a:latin typeface="Georgia" panose="02040502050405020303" pitchFamily="18" charset="0"/>
              </a:rPr>
              <a:t>Total Worker Health: </a:t>
            </a:r>
            <a:r>
              <a:rPr lang="en-US" dirty="0">
                <a:latin typeface="Georgia" panose="02040502050405020303" pitchFamily="18" charset="0"/>
              </a:rPr>
              <a:t>By integrating predictive heatmaps with role-based dashboards, we move beyond simple compliance to a strategic model of organizational resilience and staff wellbeing.</a:t>
            </a:r>
          </a:p>
          <a:p>
            <a:pPr algn="just">
              <a:buClr>
                <a:srgbClr val="358A37"/>
              </a:buClr>
            </a:pPr>
            <a:r>
              <a:rPr lang="en-US" b="1" dirty="0">
                <a:latin typeface="Georgia" panose="02040502050405020303" pitchFamily="18" charset="0"/>
              </a:rPr>
              <a:t>The "So What": </a:t>
            </a:r>
            <a:r>
              <a:rPr lang="en-US" dirty="0" err="1">
                <a:latin typeface="Georgia" panose="02040502050405020303" pitchFamily="18" charset="0"/>
              </a:rPr>
              <a:t>SafeSight</a:t>
            </a:r>
            <a:r>
              <a:rPr lang="en-US" dirty="0">
                <a:latin typeface="Georgia" panose="02040502050405020303" pitchFamily="18" charset="0"/>
              </a:rPr>
              <a:t> proves that in the 2026 luxury hospitality market, protecting the workforce through digital intelligence is the ultimate competitive advantage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13D99C-DC92-47C9-A7D8-8C06CED83795}"/>
              </a:ext>
            </a:extLst>
          </p:cNvPr>
          <p:cNvSpPr/>
          <p:nvPr/>
        </p:nvSpPr>
        <p:spPr>
          <a:xfrm>
            <a:off x="0" y="0"/>
            <a:ext cx="290945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2689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EBBF5-0FCB-421D-9B1A-87E6FD665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rgia Pro Semibold" panose="02040702050405020303" pitchFamily="18" charset="0"/>
              </a:rPr>
              <a:t>References</a:t>
            </a: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32309-DD67-4203-B80A-1D896CFB5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156614"/>
          </a:xfrm>
        </p:spPr>
        <p:txBody>
          <a:bodyPr>
            <a:noAutofit/>
          </a:bodyPr>
          <a:lstStyle/>
          <a:p>
            <a:pPr marL="360000" indent="-457200" algn="just">
              <a:lnSpc>
                <a:spcPct val="100000"/>
              </a:lnSpc>
              <a:buClr>
                <a:srgbClr val="358A37"/>
              </a:buClr>
              <a:buNone/>
            </a:pPr>
            <a:r>
              <a:rPr lang="en-US" sz="1200" kern="100" dirty="0">
                <a:effectLst/>
                <a:latin typeface="Georgia" panose="020405020504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British Standard Institution, 1996. BS 8800: guide to occupational health and safety management systems. , London: British Standards Institution.</a:t>
            </a:r>
          </a:p>
          <a:p>
            <a:pPr marL="360000" indent="-457200" algn="just">
              <a:lnSpc>
                <a:spcPct val="100000"/>
              </a:lnSpc>
              <a:buClr>
                <a:srgbClr val="358A37"/>
              </a:buClr>
              <a:buNone/>
            </a:pPr>
            <a:r>
              <a:rPr lang="en-US" sz="1200" kern="100" dirty="0">
                <a:effectLst/>
                <a:latin typeface="Georgia" panose="020405020504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Chan, E. S. W. &amp; Lam, D., 2013. Hotel safety and security systems: Bridging the gap between managers and guests. International Journal of Hospitality Management, 32(ISSN 0278-4319), pp. 202-216.</a:t>
            </a:r>
          </a:p>
          <a:p>
            <a:pPr marL="360000" indent="-457200" algn="just">
              <a:lnSpc>
                <a:spcPct val="100000"/>
              </a:lnSpc>
              <a:buClr>
                <a:srgbClr val="358A37"/>
              </a:buClr>
              <a:buNone/>
            </a:pPr>
            <a:r>
              <a:rPr lang="en-US" sz="1200" kern="100" dirty="0">
                <a:effectLst/>
                <a:latin typeface="Georgia" panose="020405020504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Cooper, M. D., 2000. Towards a model of safety culture. Safety Science, 36(2), pp. 111-136.</a:t>
            </a:r>
          </a:p>
          <a:p>
            <a:pPr marL="360000" indent="-457200" algn="just">
              <a:lnSpc>
                <a:spcPct val="100000"/>
              </a:lnSpc>
              <a:buClr>
                <a:srgbClr val="358A37"/>
              </a:buClr>
              <a:buNone/>
            </a:pPr>
            <a:r>
              <a:rPr lang="en-US" sz="1200" kern="100" dirty="0">
                <a:effectLst/>
                <a:latin typeface="Georgia" panose="020405020504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Future Skills Centre, 2024. Mind Your Health, Canada: https://fsc-ccf.ca/wp-content/uploads/2024/10/mind-your-health-2.pdf.</a:t>
            </a:r>
          </a:p>
          <a:p>
            <a:pPr marL="360000" indent="-457200" algn="just">
              <a:lnSpc>
                <a:spcPct val="100000"/>
              </a:lnSpc>
              <a:buClr>
                <a:srgbClr val="358A37"/>
              </a:buClr>
              <a:buNone/>
            </a:pPr>
            <a:r>
              <a:rPr lang="en-US" sz="1200" kern="100" dirty="0">
                <a:effectLst/>
                <a:latin typeface="Georgia" panose="020405020504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Gallagher, C., Underhill, E. &amp; Rimmer, M., 2003. Occupational safety and health management systems in Australia: barriers to success. Policy and Practice in Health and Safety, 1(1), pp. 67-81.</a:t>
            </a:r>
          </a:p>
          <a:p>
            <a:pPr marL="360000" indent="-457200" algn="just">
              <a:lnSpc>
                <a:spcPct val="100000"/>
              </a:lnSpc>
              <a:buClr>
                <a:srgbClr val="358A37"/>
              </a:buClr>
              <a:buNone/>
            </a:pPr>
            <a:r>
              <a:rPr lang="en-US" sz="1200" kern="100" dirty="0">
                <a:effectLst/>
                <a:latin typeface="Georgia" panose="020405020504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ILO, 2001. Guidelines on Occupational Safety and Health Management Systems, International </a:t>
            </a:r>
            <a:r>
              <a:rPr lang="en-US" sz="1200" kern="100" dirty="0" err="1">
                <a:effectLst/>
                <a:latin typeface="Georgia" panose="020405020504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Labour</a:t>
            </a:r>
            <a:r>
              <a:rPr lang="en-US" sz="1200" kern="100" dirty="0">
                <a:effectLst/>
                <a:latin typeface="Georgia" panose="020405020504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Office, Geneva.: MEOSH/2001/2(Rev.).</a:t>
            </a:r>
          </a:p>
          <a:p>
            <a:pPr marL="360000" indent="-457200" algn="just">
              <a:lnSpc>
                <a:spcPct val="100000"/>
              </a:lnSpc>
              <a:buClr>
                <a:srgbClr val="358A37"/>
              </a:buClr>
              <a:buNone/>
            </a:pPr>
            <a:r>
              <a:rPr lang="en-US" sz="1200" kern="100" dirty="0">
                <a:effectLst/>
                <a:latin typeface="Georgia" panose="020405020504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Lindholm, M., Reiman, A. &amp; </a:t>
            </a:r>
            <a:r>
              <a:rPr lang="en-US" sz="1200" kern="100" dirty="0" err="1">
                <a:effectLst/>
                <a:latin typeface="Georgia" panose="020405020504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Tappura</a:t>
            </a:r>
            <a:r>
              <a:rPr lang="en-US" sz="1200" kern="100" dirty="0">
                <a:effectLst/>
                <a:latin typeface="Georgia" panose="020405020504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S., 2024. The evolution of new and emerging occupational health and safety risks: A qualitative review. Work (Reading, Mass.), 79(2), pp. 503-521.</a:t>
            </a:r>
          </a:p>
          <a:p>
            <a:pPr marL="360000" indent="-457200" algn="just">
              <a:lnSpc>
                <a:spcPct val="100000"/>
              </a:lnSpc>
              <a:buClr>
                <a:srgbClr val="358A37"/>
              </a:buClr>
              <a:buNone/>
            </a:pPr>
            <a:r>
              <a:rPr lang="en-US" sz="1200" kern="100" dirty="0">
                <a:effectLst/>
                <a:latin typeface="Georgia" panose="020405020504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Nelson, M. S., </a:t>
            </a:r>
            <a:r>
              <a:rPr lang="en-US" sz="1200" kern="100" dirty="0" err="1">
                <a:effectLst/>
                <a:latin typeface="Georgia" panose="020405020504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Wooditch</a:t>
            </a:r>
            <a:r>
              <a:rPr lang="en-US" sz="1200" kern="100" dirty="0">
                <a:effectLst/>
                <a:latin typeface="Georgia" panose="020405020504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A. &amp; Gabbidon, S. L., 2013. Is Criminology Out-of-Date? A Research Note on the Use of Common Types of Data. Journal of Criminal Justice Education, 25(1), pp. 12-16.</a:t>
            </a:r>
          </a:p>
          <a:p>
            <a:pPr marL="360000" indent="-457200" algn="just">
              <a:lnSpc>
                <a:spcPct val="100000"/>
              </a:lnSpc>
              <a:buClr>
                <a:srgbClr val="358A37"/>
              </a:buClr>
              <a:buNone/>
            </a:pPr>
            <a:r>
              <a:rPr lang="en-US" sz="1200" kern="100" dirty="0">
                <a:effectLst/>
                <a:latin typeface="Georgia" panose="020405020504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OSHA, 2026. Occupational Safety and Health Administration. [Online]  Available at: </a:t>
            </a:r>
            <a:r>
              <a:rPr lang="en-US" sz="1200" kern="100" dirty="0">
                <a:effectLst/>
                <a:latin typeface="Georgia" panose="02040502050405020303" pitchFamily="18" charset="0"/>
                <a:ea typeface="Aptos" panose="020B0004020202020204" pitchFamily="34" charset="0"/>
                <a:cs typeface="Times New Roman" panose="02020603050405020304" pitchFamily="18" charset="0"/>
                <a:hlinkClick r:id="rId2"/>
              </a:rPr>
              <a:t>https://www.osha.gov/severe-injury-reports</a:t>
            </a:r>
            <a:r>
              <a:rPr lang="en-US" sz="1200" kern="100" dirty="0">
                <a:effectLst/>
                <a:latin typeface="Georgia" panose="020405020504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[Accessed 15 01 2026].</a:t>
            </a:r>
          </a:p>
          <a:p>
            <a:pPr marL="360000" indent="-457200" algn="just">
              <a:lnSpc>
                <a:spcPct val="100000"/>
              </a:lnSpc>
              <a:buClr>
                <a:srgbClr val="358A37"/>
              </a:buClr>
              <a:buNone/>
            </a:pPr>
            <a:r>
              <a:rPr lang="en-US" sz="1200" kern="100" dirty="0">
                <a:effectLst/>
                <a:latin typeface="Georgia" panose="020405020504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Shah, F., 2026. Digital Incident Management: The Case For Modernizing Safety Reporting. [Online] Available at: </a:t>
            </a:r>
            <a:r>
              <a:rPr lang="en-US" sz="1200" kern="100" dirty="0">
                <a:effectLst/>
                <a:latin typeface="Georgia" panose="02040502050405020303" pitchFamily="18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https://www.cority.com/blog/digital-incident-management/</a:t>
            </a:r>
            <a:r>
              <a:rPr lang="en-US" sz="1200" kern="100" dirty="0">
                <a:effectLst/>
                <a:latin typeface="Georgia" panose="020405020504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[Accessed 20 01 2026].</a:t>
            </a:r>
          </a:p>
          <a:p>
            <a:pPr marL="360000" indent="-457200" algn="just">
              <a:lnSpc>
                <a:spcPct val="100000"/>
              </a:lnSpc>
              <a:buClr>
                <a:srgbClr val="358A37"/>
              </a:buClr>
              <a:buNone/>
            </a:pPr>
            <a:r>
              <a:rPr lang="en-US" sz="1200" kern="100" dirty="0">
                <a:effectLst/>
                <a:latin typeface="Georgia" panose="020405020504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Stone, D. L., Deadrick, D. L., Lukaszewski, K. M. &amp; Johnson, R., 2015. The influence of technology on the future of human resource management. Human Resource Management Review, 25(2), pp. 216-231.</a:t>
            </a:r>
          </a:p>
          <a:p>
            <a:pPr marL="360000" indent="-457200" algn="just">
              <a:lnSpc>
                <a:spcPct val="100000"/>
              </a:lnSpc>
              <a:buClr>
                <a:srgbClr val="358A37"/>
              </a:buClr>
              <a:buNone/>
            </a:pPr>
            <a:r>
              <a:rPr lang="en-US" sz="1200" kern="100" dirty="0">
                <a:effectLst/>
                <a:latin typeface="Georgia" panose="020405020504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 HUB International, 2026. How Risk Management Maturity Leads to Resilience and Profitability, Canada: HUB.</a:t>
            </a:r>
          </a:p>
          <a:p>
            <a:pPr marL="360000" indent="-457200" algn="just">
              <a:lnSpc>
                <a:spcPct val="100000"/>
              </a:lnSpc>
              <a:buClr>
                <a:srgbClr val="358A37"/>
              </a:buClr>
              <a:buNone/>
            </a:pPr>
            <a:r>
              <a:rPr lang="en-US" sz="1200" kern="100" dirty="0">
                <a:effectLst/>
                <a:latin typeface="Georgia" panose="020405020504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Workers Compensation Act (2026) [RSBC 2019] Chapter 1. </a:t>
            </a:r>
          </a:p>
          <a:p>
            <a:pPr marL="360000" indent="-457200" algn="just">
              <a:lnSpc>
                <a:spcPct val="100000"/>
              </a:lnSpc>
              <a:buClr>
                <a:srgbClr val="358A37"/>
              </a:buClr>
              <a:buNone/>
            </a:pPr>
            <a:r>
              <a:rPr lang="en-US" sz="1200" kern="100" dirty="0">
                <a:effectLst/>
                <a:latin typeface="Georgia" panose="020405020504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WorkSafe BC, 2025. WorkSafe BC. [Online]  Available at: </a:t>
            </a:r>
            <a:r>
              <a:rPr lang="en-US" sz="1200" kern="100" dirty="0">
                <a:effectLst/>
                <a:latin typeface="Georgia" panose="02040502050405020303" pitchFamily="18" charset="0"/>
                <a:ea typeface="Aptos" panose="020B0004020202020204" pitchFamily="34" charset="0"/>
                <a:cs typeface="Times New Roman" panose="02020603050405020304" pitchFamily="18" charset="0"/>
                <a:hlinkClick r:id="rId4"/>
              </a:rPr>
              <a:t>https://www.worksafebc.com/en</a:t>
            </a:r>
            <a:r>
              <a:rPr lang="en-US" sz="1200" kern="100" dirty="0">
                <a:effectLst/>
                <a:latin typeface="Georgia" panose="020405020504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[Accessed 20 01 2026].</a:t>
            </a:r>
          </a:p>
          <a:p>
            <a:pPr marL="0" indent="-457200" algn="just">
              <a:lnSpc>
                <a:spcPct val="100000"/>
              </a:lnSpc>
              <a:buClr>
                <a:srgbClr val="358A37"/>
              </a:buClr>
              <a:buNone/>
            </a:pPr>
            <a:endParaRPr lang="en-US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-457200" algn="just">
              <a:lnSpc>
                <a:spcPct val="100000"/>
              </a:lnSpc>
              <a:buClr>
                <a:srgbClr val="358A37"/>
              </a:buClr>
              <a:buNone/>
            </a:pPr>
            <a:endParaRPr lang="en-CA" sz="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Clr>
                <a:srgbClr val="358A37"/>
              </a:buClr>
            </a:pPr>
            <a:endParaRPr lang="en-CA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Clr>
                <a:srgbClr val="358A37"/>
              </a:buClr>
            </a:pPr>
            <a:endParaRPr lang="en-US" sz="1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688337-AE9E-4740-9C20-C8C834272DDA}"/>
              </a:ext>
            </a:extLst>
          </p:cNvPr>
          <p:cNvSpPr/>
          <p:nvPr/>
        </p:nvSpPr>
        <p:spPr>
          <a:xfrm>
            <a:off x="0" y="0"/>
            <a:ext cx="290945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3513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2C1223-9B37-2635-E80C-C43E3C0A2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9" y="283310"/>
            <a:ext cx="91440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400" kern="1200" dirty="0">
                <a:solidFill>
                  <a:srgbClr val="002060"/>
                </a:solidFill>
                <a:latin typeface="Georgia Pro Black" panose="02040A02050405020203" pitchFamily="18" charset="0"/>
              </a:rPr>
              <a:t>THANK YOU!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D716534E-BEFA-5F53-3569-0838B9FFB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7243" y="2499605"/>
            <a:ext cx="5717512" cy="372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122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3225</TotalTime>
  <Words>1558</Words>
  <Application>Microsoft Office PowerPoint</Application>
  <PresentationFormat>Widescreen</PresentationFormat>
  <Paragraphs>150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Aptos</vt:lpstr>
      <vt:lpstr>Arial</vt:lpstr>
      <vt:lpstr>Calibri</vt:lpstr>
      <vt:lpstr>Calibri Light</vt:lpstr>
      <vt:lpstr>Georgia</vt:lpstr>
      <vt:lpstr>Georgia Pro Black</vt:lpstr>
      <vt:lpstr>Georgia Pro Semibold</vt:lpstr>
      <vt:lpstr>Times New Roman</vt:lpstr>
      <vt:lpstr>Office Theme</vt:lpstr>
      <vt:lpstr>SafeSight AI: Bridging the Analytical Gap through a Predictive Full-Stack Framework for Proactive Hospitality Safety Management</vt:lpstr>
      <vt:lpstr>Introduction</vt:lpstr>
      <vt:lpstr>Research Context</vt:lpstr>
      <vt:lpstr>Research Context contd.</vt:lpstr>
      <vt:lpstr>Problem Statement</vt:lpstr>
      <vt:lpstr>The Novelty of SafeSight</vt:lpstr>
      <vt:lpstr>Methodology</vt:lpstr>
      <vt:lpstr>PowerPoint Presentation</vt:lpstr>
      <vt:lpstr>Introducing SafeSight: The Future of Proactive Safety</vt:lpstr>
      <vt:lpstr>Full-Stack Framework &amp; Tech Stack</vt:lpstr>
      <vt:lpstr>Functional Architecture (The User Journey)</vt:lpstr>
      <vt:lpstr>AI Model &amp; Intelligence</vt:lpstr>
      <vt:lpstr>DEMONSTRATION</vt:lpstr>
      <vt:lpstr>Results: From Data to Safety Intelligence</vt:lpstr>
      <vt:lpstr>Evaluation &amp; Utility</vt:lpstr>
      <vt:lpstr>Discussion and Implications</vt:lpstr>
      <vt:lpstr>PowerPoint Presentation</vt:lpstr>
      <vt:lpstr>Challenges Faced</vt:lpstr>
      <vt:lpstr>Lessons Learned</vt:lpstr>
      <vt:lpstr>Conclusion: The New Standard for Workplace Safety</vt:lpstr>
      <vt:lpstr>References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Virtual Learning Behavior; Evidence from Postgraduates’ Students in an Emerging Context</dc:title>
  <dc:creator>Lahiru Weerasinghe</dc:creator>
  <cp:lastModifiedBy>Silva, Sandali V.</cp:lastModifiedBy>
  <cp:revision>22</cp:revision>
  <dcterms:created xsi:type="dcterms:W3CDTF">2021-11-22T07:49:07Z</dcterms:created>
  <dcterms:modified xsi:type="dcterms:W3CDTF">2026-04-09T03:21:44Z</dcterms:modified>
</cp:coreProperties>
</file>